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94259006c04925" /><Relationship Type="http://schemas.openxmlformats.org/officeDocument/2006/relationships/extended-properties" Target="/docProps/app.xml" Id="R51058ddf71084d4c" /><Relationship Type="http://schemas.openxmlformats.org/officeDocument/2006/relationships/officeDocument" Target="/ppt/presentation.xml" Id="Rac5dbb9c920b4f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59a8af0e7d46bf"/>
  </p:sldMasterIdLst>
  <p:notesMasterIdLst>
    <p:notesMasterId xmlns:r="http://schemas.openxmlformats.org/officeDocument/2006/relationships" r:id="Rf4ada5b39b624a77"/>
  </p:notesMasterIdLst>
  <p:sldIdLst>
    <p:sldId xmlns:r="http://schemas.openxmlformats.org/officeDocument/2006/relationships" id="256" r:id="R2215251dc64c4bf9"/>
    <p:sldId xmlns:r="http://schemas.openxmlformats.org/officeDocument/2006/relationships" id="257" r:id="Ra595feebf6364546"/>
    <p:sldId xmlns:r="http://schemas.openxmlformats.org/officeDocument/2006/relationships" id="258" r:id="Rb60495edae4c42fe"/>
    <p:sldId xmlns:r="http://schemas.openxmlformats.org/officeDocument/2006/relationships" id="259" r:id="Ra7e6676441c146e0"/>
    <p:sldId xmlns:r="http://schemas.openxmlformats.org/officeDocument/2006/relationships" id="260" r:id="R90f03b5025ff4327"/>
    <p:sldId xmlns:r="http://schemas.openxmlformats.org/officeDocument/2006/relationships" id="261" r:id="Ra98f1619393747d2"/>
    <p:sldId xmlns:r="http://schemas.openxmlformats.org/officeDocument/2006/relationships" id="262" r:id="Race957dad0f648f6"/>
    <p:sldId xmlns:r="http://schemas.openxmlformats.org/officeDocument/2006/relationships" id="263" r:id="Ra7f13d9e2c804d0a"/>
    <p:sldId xmlns:r="http://schemas.openxmlformats.org/officeDocument/2006/relationships" id="264" r:id="R3886f1a11de04fd8"/>
    <p:sldId xmlns:r="http://schemas.openxmlformats.org/officeDocument/2006/relationships" id="265" r:id="Rcf617b31065948a1"/>
    <p:sldId xmlns:r="http://schemas.openxmlformats.org/officeDocument/2006/relationships" id="266" r:id="R6daef05167d94678"/>
    <p:sldId xmlns:r="http://schemas.openxmlformats.org/officeDocument/2006/relationships" id="267" r:id="R0d5159eb698e4dc6"/>
    <p:sldId xmlns:r="http://schemas.openxmlformats.org/officeDocument/2006/relationships" id="268" r:id="R9cfa10062ba345de"/>
    <p:sldId xmlns:r="http://schemas.openxmlformats.org/officeDocument/2006/relationships" id="269" r:id="R6ab85491e9674bb1"/>
    <p:sldId xmlns:r="http://schemas.openxmlformats.org/officeDocument/2006/relationships" id="270" r:id="R88fd7164689c40f1"/>
    <p:sldId xmlns:r="http://schemas.openxmlformats.org/officeDocument/2006/relationships" id="271" r:id="R9c604e1575e84e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b0a8f2a38e4c6f" /><Relationship Type="http://schemas.openxmlformats.org/officeDocument/2006/relationships/slideMaster" Target="/ppt/slideMasters/slideMaster1.xml" Id="R5b59a8af0e7d46bf" /><Relationship Type="http://schemas.openxmlformats.org/officeDocument/2006/relationships/notesMaster" Target="/ppt/notesMasters/notesMaster1.xml" Id="Rf4ada5b39b624a77" /><Relationship Type="http://schemas.openxmlformats.org/officeDocument/2006/relationships/presProps" Target="/ppt/presProps.xml" Id="R308af987668a400a" /><Relationship Type="http://schemas.openxmlformats.org/officeDocument/2006/relationships/tableStyles" Target="/ppt/tableStyles.xml" Id="R8f2c74758f684ef2" /><Relationship Type="http://schemas.openxmlformats.org/officeDocument/2006/relationships/slide" Target="/ppt/slides/slide1.xml" Id="R2215251dc64c4bf9" /><Relationship Type="http://schemas.openxmlformats.org/officeDocument/2006/relationships/slide" Target="/ppt/slides/slide2.xml" Id="Ra595feebf6364546" /><Relationship Type="http://schemas.openxmlformats.org/officeDocument/2006/relationships/slide" Target="/ppt/slides/slide3.xml" Id="Rb60495edae4c42fe" /><Relationship Type="http://schemas.openxmlformats.org/officeDocument/2006/relationships/slide" Target="/ppt/slides/slide4.xml" Id="Ra7e6676441c146e0" /><Relationship Type="http://schemas.openxmlformats.org/officeDocument/2006/relationships/slide" Target="/ppt/slides/slide5.xml" Id="R90f03b5025ff4327" /><Relationship Type="http://schemas.openxmlformats.org/officeDocument/2006/relationships/slide" Target="/ppt/slides/slide6.xml" Id="Ra98f1619393747d2" /><Relationship Type="http://schemas.openxmlformats.org/officeDocument/2006/relationships/slide" Target="/ppt/slides/slide7.xml" Id="Race957dad0f648f6" /><Relationship Type="http://schemas.openxmlformats.org/officeDocument/2006/relationships/slide" Target="/ppt/slides/slide8.xml" Id="Ra7f13d9e2c804d0a" /><Relationship Type="http://schemas.openxmlformats.org/officeDocument/2006/relationships/slide" Target="/ppt/slides/slide9.xml" Id="R3886f1a11de04fd8" /><Relationship Type="http://schemas.openxmlformats.org/officeDocument/2006/relationships/slide" Target="/ppt/slides/slide10.xml" Id="Rcf617b31065948a1" /><Relationship Type="http://schemas.openxmlformats.org/officeDocument/2006/relationships/slide" Target="/ppt/slides/slide11.xml" Id="R6daef05167d94678" /><Relationship Type="http://schemas.openxmlformats.org/officeDocument/2006/relationships/slide" Target="/ppt/slides/slide12.xml" Id="R0d5159eb698e4dc6" /><Relationship Type="http://schemas.openxmlformats.org/officeDocument/2006/relationships/slide" Target="/ppt/slides/slide13.xml" Id="R9cfa10062ba345de" /><Relationship Type="http://schemas.openxmlformats.org/officeDocument/2006/relationships/slide" Target="/ppt/slides/slide14.xml" Id="R6ab85491e9674bb1" /><Relationship Type="http://schemas.openxmlformats.org/officeDocument/2006/relationships/slide" Target="/ppt/slides/slide15.xml" Id="R88fd7164689c40f1" /><Relationship Type="http://schemas.openxmlformats.org/officeDocument/2006/relationships/slide" Target="/ppt/slides/slide16.xml" Id="R9c604e1575e84e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6c70af064a43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f66aeb28b240bb" /><Relationship Type="http://schemas.openxmlformats.org/officeDocument/2006/relationships/notesMaster" Target="/ppt/notesMasters/notesMaster1.xml" Id="Rb73b382ebb1443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e9242288b44f36" /><Relationship Type="http://schemas.openxmlformats.org/officeDocument/2006/relationships/notesMaster" Target="/ppt/notesMasters/notesMaster1.xml" Id="R100edeca93a64c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f1c71076684630" /><Relationship Type="http://schemas.openxmlformats.org/officeDocument/2006/relationships/notesMaster" Target="/ppt/notesMasters/notesMaster1.xml" Id="Rb137f21c709748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99b9fdf4d541e1" /><Relationship Type="http://schemas.openxmlformats.org/officeDocument/2006/relationships/notesMaster" Target="/ppt/notesMasters/notesMaster1.xml" Id="R2ab70441d1ef4f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f42151fe4d4144" /><Relationship Type="http://schemas.openxmlformats.org/officeDocument/2006/relationships/notesMaster" Target="/ppt/notesMasters/notesMaster1.xml" Id="Rd04d52ff06d04f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729d7f29fd4f2e" /><Relationship Type="http://schemas.openxmlformats.org/officeDocument/2006/relationships/notesMaster" Target="/ppt/notesMasters/notesMaster1.xml" Id="R61d793c2efb64f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109600b6254308" /><Relationship Type="http://schemas.openxmlformats.org/officeDocument/2006/relationships/notesMaster" Target="/ppt/notesMasters/notesMaster1.xml" Id="R24d779bb0a9145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dfeb26d89c499f" /><Relationship Type="http://schemas.openxmlformats.org/officeDocument/2006/relationships/notesMaster" Target="/ppt/notesMasters/notesMaster1.xml" Id="R40544fec69544f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83e80433364101" /><Relationship Type="http://schemas.openxmlformats.org/officeDocument/2006/relationships/notesMaster" Target="/ppt/notesMasters/notesMaster1.xml" Id="R0c40a076ab9640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5dde2cb5534080" /><Relationship Type="http://schemas.openxmlformats.org/officeDocument/2006/relationships/notesMaster" Target="/ppt/notesMasters/notesMaster1.xml" Id="R7d6094ff891948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0cd9e683b14890" /><Relationship Type="http://schemas.openxmlformats.org/officeDocument/2006/relationships/notesMaster" Target="/ppt/notesMasters/notesMaster1.xml" Id="Rca44ba592707400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fff94de5c6d4f05" /><Relationship Type="http://schemas.openxmlformats.org/officeDocument/2006/relationships/notesMaster" Target="/ppt/notesMasters/notesMaster1.xml" Id="R721c83a53ebc4fd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1075c4340b9494f" /><Relationship Type="http://schemas.openxmlformats.org/officeDocument/2006/relationships/notesMaster" Target="/ppt/notesMasters/notesMaster1.xml" Id="Rba0a4c05c6e044c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d5d77838fd8447f" /><Relationship Type="http://schemas.openxmlformats.org/officeDocument/2006/relationships/notesMaster" Target="/ppt/notesMasters/notesMaster1.xml" Id="R13286447290146a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2f864c7f1d54217" /><Relationship Type="http://schemas.openxmlformats.org/officeDocument/2006/relationships/notesMaster" Target="/ppt/notesMasters/notesMaster1.xml" Id="R1daedda97419499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f41fe4331764c7e" /><Relationship Type="http://schemas.openxmlformats.org/officeDocument/2006/relationships/notesMaster" Target="/ppt/notesMasters/notesMaster1.xml" Id="R945d9d2acc1544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connecting this module directly to the roadmap work completed in Module 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modules/D/SegmentD_Roadmap.tex</a:t>
            </a:r>
          </a:p>
          <a:p xmlns:a="http://schemas.openxmlformats.org/drawingml/2006/main">
            <a:r>
              <a:t>- modules/D/art/InStats_RWL.png</a:t>
            </a:r>
          </a:p>
          <a:p xmlns:a="http://schemas.openxmlformats.org/drawingml/2006/main">
            <a:r>
              <a:t>- modules/F/README.md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introduction under two minutes. The main point is continuity: the tool records the roadmap participants already know.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https://navigator.tao-rwd.com/ (captured 2026-07-26)</a:t>
            </a:r>
          </a:p>
          <a:p xmlns:a="http://schemas.openxmlformats.org/drawingml/2006/main">
            <a:r>
              <a:t>- modules/F/art/navigator-home.png</a:t>
            </a:r>
          </a:p>
          <a:p xmlns:a="http://schemas.openxmlformats.org/drawingml/2006/main">
            <a:r>
              <a:t>- modules/D/SegmentD_Roadmap.tex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no-login route and point out the export control. Avoid opening the AI panel during the live demonstration.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https://navigator.tao-rwd.com/navigator</a:t>
            </a:r>
          </a:p>
          <a:p xmlns:a="http://schemas.openxmlformats.org/drawingml/2006/main">
            <a:r>
              <a:t>- modules/F/art/navigator-overview.png</a:t>
            </a:r>
          </a:p>
          <a:p xmlns:a="http://schemas.openxmlformats.org/drawingml/2006/main">
            <a:r>
              <a:t>- roadmap/src/constants/roadmapSteps.ts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for responses. Do not reveal the adjusted result yet. Ask participants to name the missing design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modules/F/data/pneumonia_data.csv</a:t>
            </a:r>
          </a:p>
          <a:p xmlns:a="http://schemas.openxmlformats.org/drawingml/2006/main">
            <a:r>
              <a:t>- ops/materials/sessions/Session 1a/R example/pneumonia_vaccine_example.Rmd</a:t>
            </a:r>
          </a:p>
          <a:p xmlns:a="http://schemas.openxmlformats.org/drawingml/2006/main">
            <a:r>
              <a:t>- modules/F/outputs/pneumonia_diagnostics.csv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population wording explicit: the current teaching data are centered at age 65, not restricted to 65 and older.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modules/F/causal-roadmap-pneumonia-worked-example.md</a:t>
            </a:r>
          </a:p>
          <a:p xmlns:a="http://schemas.openxmlformats.org/drawingml/2006/main">
            <a:r>
              <a:t>- modules/F/data/pneumonia_data.csv</a:t>
            </a:r>
          </a:p>
          <a:p xmlns:a="http://schemas.openxmlformats.org/drawingml/2006/main">
            <a:r>
              <a:t>- modules/D/SegmentD_Roadmap.tex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Populate Step 1 live. Ask which single phrase would most change the estimand.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https://navigator.tao-rwd.com/navigator/1</a:t>
            </a:r>
          </a:p>
          <a:p xmlns:a="http://schemas.openxmlformats.org/drawingml/2006/main">
            <a:r>
              <a:t>- modules/F/art/navigator-step1-question.png</a:t>
            </a:r>
          </a:p>
          <a:p xmlns:a="http://schemas.openxmlformats.org/drawingml/2006/main">
            <a:r>
              <a:t>- modules/F/causal-roadmap-pneumonia-worked-example.md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simplified diagram for discussion, then paste the full DAGitty file through Bring your own. The full DAG includes age causing both prior-history variables.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modules/F/pneumonia.dagitty.txt</a:t>
            </a:r>
          </a:p>
          <a:p xmlns:a="http://schemas.openxmlformats.org/drawingml/2006/main">
            <a:r>
              <a:t>- modules/F/causal-roadmap-pneumonia-worked-example.md</a:t>
            </a:r>
          </a:p>
          <a:p xmlns:a="http://schemas.openxmlformats.org/drawingml/2006/main">
            <a:r>
              <a:t>- ops/materials/sessions/Session 1a/R example/pneumonia_vaccine_example.Rmd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Map each protocol element to a variable and measurement window. Stress that the simulation has perfect measurement only by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https://navigator.tao-rwd.com/navigator/3</a:t>
            </a:r>
          </a:p>
          <a:p xmlns:a="http://schemas.openxmlformats.org/drawingml/2006/main">
            <a:r>
              <a:t>- modules/F/art/navigator-step3-data.png</a:t>
            </a:r>
          </a:p>
          <a:p xmlns:a="http://schemas.openxmlformats.org/drawingml/2006/main">
            <a:r>
              <a:t>- modules/F/data/pneumonia_data.csv</a:t>
            </a:r>
          </a:p>
          <a:p xmlns:a="http://schemas.openxmlformats.org/drawingml/2006/main">
            <a:r>
              <a:t>- modules/F/outputs/pneumonia_diagnostics.csv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here for the main workshop discussion. Ask which assumption would be least credible in a real EHR study and what evidence would change that judgment.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https://navigator.tao-rwd.com/navigator/4</a:t>
            </a:r>
          </a:p>
          <a:p xmlns:a="http://schemas.openxmlformats.org/drawingml/2006/main">
            <a:r>
              <a:t>- modules/F/art/navigator-step4-identifiability.png</a:t>
            </a:r>
          </a:p>
          <a:p xmlns:a="http://schemas.openxmlformats.org/drawingml/2006/main">
            <a:r>
              <a:t>- modules/F/causal-roadmap-pneumonia-worked-example.md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mapping aloud. Ask participants what changes if the target population, outcome window, or censoring intervention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https://navigator.tao-rwd.com/navigator/5</a:t>
            </a:r>
          </a:p>
          <a:p xmlns:a="http://schemas.openxmlformats.org/drawingml/2006/main">
            <a:r>
              <a:t>- modules/F/art/navigator-step5-estimand.png</a:t>
            </a:r>
          </a:p>
          <a:p xmlns:a="http://schemas.openxmlformats.org/drawingml/2006/main">
            <a:r>
              <a:t>- modules/F/causal-roadmap-pneumonia-worked-example.md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explicit bridge to Module G. Keep the implementation detail light; focus on why the estimator is downstream of the estimand.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https://navigator.tao-rwd.com/navigator/6</a:t>
            </a:r>
          </a:p>
          <a:p xmlns:a="http://schemas.openxmlformats.org/drawingml/2006/main">
            <a:r>
              <a:t>- modules/F/art/navigator-step6-estimator.png</a:t>
            </a:r>
          </a:p>
          <a:p xmlns:a="http://schemas.openxmlformats.org/drawingml/2006/main">
            <a:r>
              <a:t>- modules/F/code/pneumonia_navigator_tmle.R</a:t>
            </a:r>
          </a:p>
          <a:p xmlns:a="http://schemas.openxmlformats.org/drawingml/2006/main">
            <a:r>
              <a:t>- modules/G/README.md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whether a confidence interval can address any of these causal gaps. The answer is no: these require separate assumptions and analyses.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https://navigator.tao-rwd.com/navigator/7</a:t>
            </a:r>
          </a:p>
          <a:p xmlns:a="http://schemas.openxmlformats.org/drawingml/2006/main">
            <a:r>
              <a:t>- modules/F/art/navigator-step7-sensitivity.png</a:t>
            </a:r>
          </a:p>
          <a:p xmlns:a="http://schemas.openxmlformats.org/drawingml/2006/main">
            <a:r>
              <a:t>- modules/F/causal-roadmap-pneumonia-worked-example.md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estimates only after Steps 1-7 are fixed. Explain that estimator agreement supports the teaching story but does not prove the identification assumptions in real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modules/F/outputs/pneumonia_results.csv</a:t>
            </a:r>
          </a:p>
          <a:p xmlns:a="http://schemas.openxmlformats.org/drawingml/2006/main">
            <a:r>
              <a:t>- modules/F/code/pneumonia_navigator_tmle.R</a:t>
            </a:r>
          </a:p>
          <a:p xmlns:a="http://schemas.openxmlformats.org/drawingml/2006/main">
            <a:r>
              <a:t>- ops/materials/sessions/Session 1a/R example/pneumonia_vaccine_example.Rmd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both statements and ask participants to explain the difference using one Step 4 assumption and one limitation.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https://navigator.tao-rwd.com/navigator/8</a:t>
            </a:r>
          </a:p>
          <a:p xmlns:a="http://schemas.openxmlformats.org/drawingml/2006/main">
            <a:r>
              <a:t>- modules/F/art/navigator-step8-results.png</a:t>
            </a:r>
          </a:p>
          <a:p xmlns:a="http://schemas.openxmlformats.org/drawingml/2006/main">
            <a:r>
              <a:t>- modules/F/causal-roadmap-pneumonia-worked-example.md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pairs three minutes to select and defend one field, then take two examples. Export the Markdown roadmap at the 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modules/F/facilitator-live-demo.md</a:t>
            </a:r>
          </a:p>
          <a:p xmlns:a="http://schemas.openxmlformats.org/drawingml/2006/main">
            <a:r>
              <a:t>- modules/F/pneumonia-navigator-student-guide.md</a:t>
            </a:r>
          </a:p>
          <a:p xmlns:a="http://schemas.openxmlformats.org/drawingml/2006/main">
            <a:r>
              <a:t>- modules/F/causal-roadmap-pneumonia-worked-example.md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the workshop by naming the handoff: Module G is implementation of the already-specified estimand, not a new search for a convenient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modules/G/README.md</a:t>
            </a:r>
          </a:p>
          <a:p xmlns:a="http://schemas.openxmlformats.org/drawingml/2006/main">
            <a:r>
              <a:t>- modules/F/causal-roadmap-pneumonia-worked-example.md</a:t>
            </a:r>
          </a:p>
          <a:p xmlns:a="http://schemas.openxmlformats.org/drawingml/2006/main">
            <a:r>
              <a:t>- modules/D/SegmentD_Roadmap.tex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86eea5b3bc48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c08ae7693744f5" /><Relationship Type="http://schemas.openxmlformats.org/officeDocument/2006/relationships/slideLayout" Target="/ppt/slideLayouts/slideLayout1.xml" Id="R9900a370ad9846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00a370ad9846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ef387783e45ef" /><Relationship Type="http://schemas.openxmlformats.org/officeDocument/2006/relationships/image" Target="/ppt/media/image.png" Id="R6d4b02f96a034ef0" /><Relationship Type="http://schemas.openxmlformats.org/officeDocument/2006/relationships/notesSlide" Target="/ppt/notesSlides/notesSlide1.xml" Id="R84ca11d9c86a43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3462e8fd64993" /><Relationship Type="http://schemas.openxmlformats.org/officeDocument/2006/relationships/image" Target="/ppt/media/image.jpeg" Id="Rd0d0c28ffe334dcf" /><Relationship Type="http://schemas.openxmlformats.org/officeDocument/2006/relationships/notesSlide" Target="/ppt/notesSlides/notesSlide2.xml" Id="R37c1749cb09142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ad2525e3a4454" /><Relationship Type="http://schemas.openxmlformats.org/officeDocument/2006/relationships/image" Target="/ppt/media/image2.jpeg" Id="R863e76115162452e" /><Relationship Type="http://schemas.openxmlformats.org/officeDocument/2006/relationships/notesSlide" Target="/ppt/notesSlides/notesSlide3.xml" Id="Rdd58ee5f68fc4a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fc9eeac564409" /><Relationship Type="http://schemas.openxmlformats.org/officeDocument/2006/relationships/notesSlide" Target="/ppt/notesSlides/notesSlide4.xml" Id="R0603a5d3975346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2e884e0b14d3a" /><Relationship Type="http://schemas.openxmlformats.org/officeDocument/2006/relationships/notesSlide" Target="/ppt/notesSlides/notesSlide5.xml" Id="Rf4bab6b24c5140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6397d40d5446f" /><Relationship Type="http://schemas.openxmlformats.org/officeDocument/2006/relationships/image" Target="/ppt/media/image3.jpeg" Id="R04c11ba6ff0b4ea2" /><Relationship Type="http://schemas.openxmlformats.org/officeDocument/2006/relationships/notesSlide" Target="/ppt/notesSlides/notesSlide6.xml" Id="R0a5ea722627140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9e83675294b57" /><Relationship Type="http://schemas.openxmlformats.org/officeDocument/2006/relationships/notesSlide" Target="/ppt/notesSlides/notesSlide7.xml" Id="Raf42744c223d4f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4e043d0af4009" /><Relationship Type="http://schemas.openxmlformats.org/officeDocument/2006/relationships/image" Target="/ppt/media/image4.jpeg" Id="R31c2c133d3884356" /><Relationship Type="http://schemas.openxmlformats.org/officeDocument/2006/relationships/notesSlide" Target="/ppt/notesSlides/notesSlide8.xml" Id="R5f88c4e0acfb4c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3774335314966" /><Relationship Type="http://schemas.openxmlformats.org/officeDocument/2006/relationships/image" Target="/ppt/media/image5.jpeg" Id="R8c2929997971478b" /><Relationship Type="http://schemas.openxmlformats.org/officeDocument/2006/relationships/notesSlide" Target="/ppt/notesSlides/notesSlide9.xml" Id="R83ea0a85667f41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8ebceee1c47fa" /><Relationship Type="http://schemas.openxmlformats.org/officeDocument/2006/relationships/image" Target="/ppt/media/image6.jpeg" Id="Rfd82e24b01884d75" /><Relationship Type="http://schemas.openxmlformats.org/officeDocument/2006/relationships/notesSlide" Target="/ppt/notesSlides/notesSlide10.xml" Id="R02b863467b8245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d6f0064c4493e" /><Relationship Type="http://schemas.openxmlformats.org/officeDocument/2006/relationships/image" Target="/ppt/media/image7.jpeg" Id="Rd40ab228b3ff40c6" /><Relationship Type="http://schemas.openxmlformats.org/officeDocument/2006/relationships/notesSlide" Target="/ppt/notesSlides/notesSlide11.xml" Id="R67b570cdf0b648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87a428dfd4202" /><Relationship Type="http://schemas.openxmlformats.org/officeDocument/2006/relationships/image" Target="/ppt/media/image8.jpeg" Id="R5aa7668aac42487e" /><Relationship Type="http://schemas.openxmlformats.org/officeDocument/2006/relationships/notesSlide" Target="/ppt/notesSlides/notesSlide12.xml" Id="R9be60168a7404d9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141453e1d47cb" /><Relationship Type="http://schemas.openxmlformats.org/officeDocument/2006/relationships/chart" Target="/ppt/slides/charts/chart1.xml" Id="R2ff04fbf272e465e" /><Relationship Type="http://schemas.openxmlformats.org/officeDocument/2006/relationships/notesSlide" Target="/ppt/notesSlides/notesSlide13.xml" Id="R60ddf554085c46c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d5ff68c89408e" /><Relationship Type="http://schemas.openxmlformats.org/officeDocument/2006/relationships/image" Target="/ppt/media/image9.jpeg" Id="Ra0ad3050f2d043a0" /><Relationship Type="http://schemas.openxmlformats.org/officeDocument/2006/relationships/notesSlide" Target="/ppt/notesSlides/notesSlide14.xml" Id="R2709e698653b4e5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0eecbfe864b15" /><Relationship Type="http://schemas.openxmlformats.org/officeDocument/2006/relationships/notesSlide" Target="/ppt/notesSlides/notesSlide15.xml" Id="R98a99ce32d7b48e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d7d25c5d94af8" /><Relationship Type="http://schemas.openxmlformats.org/officeDocument/2006/relationships/notesSlide" Target="/ppt/notesSlides/notesSlide16.xml" Id="Rebf7cead6e5c4cc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Risk difference</c:v>
          </c:tx>
          <c:spPr>
            <a:solidFill xmlns:a="http://schemas.openxmlformats.org/drawingml/2006/main">
              <a:srgbClr val="1C8C68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C95C5C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C8C68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1C8C68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1C8C68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4A9EFF"/>
              </a:solidFill>
            </c:spPr>
          </c:dPt>
          <c:cat>
            <c:strLit>
              <c:ptCount val="5"/>
              <c:pt idx="0">
                <c:v>Crude</c:v>
              </c:pt>
              <c:pt idx="1">
                <c:v>G-computation</c:v>
              </c:pt>
              <c:pt idx="2">
                <c:v>Hajek IPW</c:v>
              </c:pt>
              <c:pt idx="3">
                <c:v>TMLE</c:v>
              </c:pt>
              <c:pt idx="4">
                <c:v>DGP truth</c:v>
              </c:pt>
            </c:strLit>
          </c:cat>
          <c:val>
            <c:numLit>
              <c:formatCode>0.00" pp"</c:formatCode>
              <c:ptCount val="5"/>
              <c:pt idx="0">
                <c:v>0.7577</c:v>
              </c:pt>
              <c:pt idx="1">
                <c:v>-3.2763</c:v>
              </c:pt>
              <c:pt idx="2">
                <c:v>-2.9358</c:v>
              </c:pt>
              <c:pt idx="3">
                <c:v>-3.0386</c:v>
              </c:pt>
              <c:pt idx="4">
                <c:v>-3.7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23373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D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3373B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2"/>
          <c:min val="-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BEC"/>
              </a:solidFill>
              <a:prstDash val="solid"/>
            </a:ln>
          </c:spPr>
        </c:majorGridlines>
        <c:numFmt formatCode="0.0&quot; pp&quot;"/>
        <c:majorTickMark val="none"/>
        <c:minorTickMark val="none"/>
        <c:spPr>
          <a:ln xmlns:a="http://schemas.openxmlformats.org/drawingml/2006/main" w="9525">
            <a:solidFill>
              <a:srgbClr val="D8DED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478"/>
                </a:solidFill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b02f96a034ef0"/>
          <a:stretch xmlns:a="http://schemas.openxmlformats.org/drawingml/2006/main"/>
        </p:blipFill>
        <p:spPr>
          <a:xfrm xmlns:a="http://schemas.openxmlformats.org/drawingml/2006/main">
            <a:off x="9525000" y="395343"/>
            <a:ext cx="2190750" cy="771413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E4B13-5619-46DA-B5EC-1BCAC855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 i="0">
                <a:solidFill>
                  <a:srgbClr val="23373B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 i="0">
                <a:solidFill>
                  <a:srgbClr val="23373B"/>
                </a:solidFill>
                <a:latin typeface="Aptos Display"/>
                <a:ea typeface="Aptos Display"/>
                <a:cs typeface="Aptos Display"/>
              </a:rPr>
              <a:t>Live Causal Navigator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625C0-DDD7-4107-95AE-20C6DA16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 i="0">
                <a:solidFill>
                  <a:srgbClr val="4A9EFF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4A9EFF"/>
                </a:solidFill>
                <a:latin typeface="Aptos"/>
                <a:ea typeface="Aptos"/>
                <a:cs typeface="Aptos"/>
              </a:rPr>
              <a:t>Pneumococcal vaccination and pneumonia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21444-3FE1-4C60-BD9B-2E92758F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5175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CABF3-D5B0-4188-A00B-81F83B82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Module F · Standalone workshop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B3193-2BCC-4732-8C68-CAEF64BE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67175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667478"/>
                </a:solidFill>
                <a:latin typeface="Aptos"/>
                <a:ea typeface="Aptos"/>
                <a:cs typeface="Aptos"/>
              </a:rPr>
              <a:t>August 5, 2026 · 3:15-4:10 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53E517-BD19-48EE-9888-9A2BD727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667478"/>
                </a:solidFill>
                <a:latin typeface="Aptos"/>
                <a:ea typeface="Aptos"/>
                <a:cs typeface="Aptos"/>
              </a:rPr>
              <a:t>Andy Wilson</a:t>
            </a:r>
          </a:p>
        </p:txBody>
      </p:sp>
    </p:spTree>
    <p:extLst>
      <p:ext uri="{BB962C8B-B14F-4D97-AF65-F5344CB8AC3E}">
        <p14:creationId xmlns:p14="http://schemas.microsoft.com/office/powerpoint/2010/main" val="17169236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D0B27-3EFD-4AFF-92B1-5AF9EF73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710CD-33CD-48FA-B380-23B48A44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94BF71-FBBE-4930-9572-CB0C6C05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roadmap becomes a working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F20E4-939C-47A2-B47E-54CD83BE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 i="0">
                <a:solidFill>
                  <a:srgbClr val="D8E4E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D8E4E6"/>
                </a:solidFill>
                <a:latin typeface="Aptos"/>
                <a:ea typeface="Aptos"/>
                <a:cs typeface="Aptos"/>
              </a:rPr>
              <a:t>Module 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33807-3E4B-4AF7-8574-21584EDC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MODULE D → MODULE 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A4B53-077C-4563-84A1-2D121749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333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625" b="1" i="0">
                <a:solidFill>
                  <a:srgbClr val="23373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23373B"/>
                </a:solidFill>
                <a:latin typeface="Aptos Display"/>
                <a:ea typeface="Aptos Display"/>
                <a:cs typeface="Aptos Display"/>
              </a:rPr>
              <a:t>Same causal logic.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625" b="1" i="0">
                <a:solidFill>
                  <a:srgbClr val="23373B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i="0">
                <a:solidFill>
                  <a:srgbClr val="23373B"/>
                </a:solidFill>
                <a:latin typeface="Aptos Display"/>
                <a:ea typeface="Aptos Display"/>
                <a:cs typeface="Aptos Display"/>
              </a:rPr>
              <a:t>Now every decision is visible, revisable, and exportable.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FFF59-BEF3-4E0E-854F-E5D1B8F4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067012-9B38-4899-BCB0-50B978D7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3162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The Navigator is documentation infrastructure - not an oracle.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7DEAD4-38C2-4B3C-AFBD-A406DECE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114425"/>
            <a:ext cx="76200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0c28ffe334dcf"/>
          <a:srcRect xmlns:a="http://schemas.openxmlformats.org/drawingml/2006/main" l="5535" t="0" r="55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43375" y="1162050"/>
            <a:ext cx="7524750" cy="4762500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</p:spTree>
    <p:extLst>
      <p:ext uri="{BB962C8B-B14F-4D97-AF65-F5344CB8AC3E}">
        <p14:creationId xmlns:p14="http://schemas.microsoft.com/office/powerpoint/2010/main" val="5741570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C25E3C-BEA2-4E82-8CD5-00D0CAD0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4FD58-8FF5-45C3-BD5B-1A977495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03347D-D5F4-45F3-AA1B-C745476C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Eight steps, no login, one export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19499-8220-449C-8DDF-A5B37032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 i="0">
                <a:solidFill>
                  <a:srgbClr val="D8E4E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D8E4E6"/>
                </a:solidFill>
                <a:latin typeface="Aptos"/>
                <a:ea typeface="Aptos"/>
                <a:cs typeface="Aptos"/>
              </a:rPr>
              <a:t>Orientation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376BE-2F8F-49A6-AECA-F37E783D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114425"/>
            <a:ext cx="7334250" cy="4591050"/>
          </a:xfrm>
          <a:prstGeom xmlns:a="http://schemas.openxmlformats.org/drawingml/2006/main" prst="roundRect">
            <a:avLst>
              <a:gd name="adj" fmla="val 24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e76115162452e"/>
          <a:srcRect xmlns:a="http://schemas.openxmlformats.org/drawingml/2006/main" l="4686" t="0" r="46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162050"/>
            <a:ext cx="7239000" cy="4495800"/>
          </a:xfrm>
          <a:prstGeom xmlns:a="http://schemas.openxmlformats.org/drawingml/2006/main" prst="roundRect">
            <a:avLst>
              <a:gd name="adj" fmla="val 169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CA7585-1652-4B07-8A56-B68BE001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52575"/>
            <a:ext cx="22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6A508-8B53-4B46-BCDB-D3D0E72D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4305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3373B"/>
                </a:solidFill>
                <a:latin typeface="Aptos"/>
                <a:ea typeface="Aptos"/>
                <a:cs typeface="Aptos"/>
              </a:rPr>
              <a:t>Start at Step 1. </a:t>
            </a:r>
            <a:r>
              <a:rPr sz="1800">
                <a:solidFill>
                  <a:srgbClr val="23373B"/>
                </a:solidFill>
                <a:latin typeface="Aptos"/>
                <a:ea typeface="Aptos"/>
                <a:cs typeface="Aptos"/>
              </a:rPr>
              <a:t>Use the manual route.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F871C-5B45-401B-BB44-4F2F3D5C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33650"/>
            <a:ext cx="22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B61E7-8CC8-41C3-8086-1B2E521E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24125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3373B"/>
                </a:solidFill>
                <a:latin typeface="Aptos"/>
                <a:ea typeface="Aptos"/>
                <a:cs typeface="Aptos"/>
              </a:rPr>
              <a:t>Work in order. </a:t>
            </a:r>
            <a:r>
              <a:rPr sz="1800">
                <a:solidFill>
                  <a:srgbClr val="23373B"/>
                </a:solidFill>
                <a:latin typeface="Aptos"/>
                <a:ea typeface="Aptos"/>
                <a:cs typeface="Aptos"/>
              </a:rPr>
              <a:t>Pause at design decisions.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F67B35-4E73-4287-90D2-50D25F05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14725"/>
            <a:ext cx="228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465127-0ACB-47DC-89A7-52DE86A2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0520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3373B"/>
                </a:solidFill>
                <a:latin typeface="Aptos"/>
                <a:ea typeface="Aptos"/>
                <a:cs typeface="Aptos"/>
              </a:rPr>
              <a:t>Export at Step 8. </a:t>
            </a:r>
            <a:r>
              <a:rPr sz="1800">
                <a:solidFill>
                  <a:srgbClr val="23373B"/>
                </a:solidFill>
                <a:latin typeface="Aptos"/>
                <a:ea typeface="Aptos"/>
                <a:cs typeface="Aptos"/>
              </a:rPr>
              <a:t>Keep the Markdown audit trail.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ED2802-539C-48D3-836E-4AE656F8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1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500" b="0" i="1">
                <a:solidFill>
                  <a:srgbClr val="667478"/>
                </a:solidFill>
                <a:latin typeface="Aptos"/>
                <a:ea typeface="Aptos"/>
                <a:cs typeface="Aptos"/>
              </a:rPr>
              <a:t>AI support is optional and not used in this workshop.</a:t>
            </a:r>
          </a:p>
        </p:txBody>
      </p:sp>
    </p:spTree>
    <p:extLst>
      <p:ext uri="{BB962C8B-B14F-4D97-AF65-F5344CB8AC3E}">
        <p14:creationId xmlns:p14="http://schemas.microsoft.com/office/powerpoint/2010/main" val="13221330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7F6629-4B86-44BB-A1FC-7666904C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46757-CF60-43C1-99BF-1D1ACA38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45AAC3-E44F-4625-9AB4-D631B88E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crude comparison tells the wrong 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D9E13A-4995-4077-AD5A-7400019C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 i="0">
                <a:solidFill>
                  <a:srgbClr val="D8E4E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D8E4E6"/>
                </a:solidFill>
                <a:latin typeface="Aptos"/>
                <a:ea typeface="Aptos"/>
                <a:cs typeface="Aptos"/>
              </a:rPr>
              <a:t>The paradox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486E8E-0A9D-40FA-8604-6A6592A4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667478"/>
                </a:solidFill>
                <a:latin typeface="Aptos"/>
                <a:ea typeface="Aptos"/>
                <a:cs typeface="Aptos"/>
              </a:rPr>
              <a:t>Observed 12-month pneumonia risk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0CDEB-A151-45D4-BF94-BBFB746C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5100" b="1" i="0">
                <a:solidFill>
                  <a:srgbClr val="C95C5C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 i="0">
                <a:solidFill>
                  <a:srgbClr val="C95C5C"/>
                </a:solidFill>
                <a:latin typeface="Aptos Display"/>
                <a:ea typeface="Aptos Display"/>
                <a:cs typeface="Aptos Display"/>
              </a:rPr>
              <a:t>7.19%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DB4D03-EE21-4D2E-87AD-AB14E24F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667478"/>
                </a:solidFill>
                <a:latin typeface="Aptos"/>
                <a:ea typeface="Aptos"/>
                <a:cs typeface="Aptos"/>
              </a:rPr>
              <a:t>vaccinated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4BBF42-A8BF-41EE-882A-F04E7338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57375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5100" b="1" i="0">
                <a:solidFill>
                  <a:srgbClr val="23373B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 i="0">
                <a:solidFill>
                  <a:srgbClr val="23373B"/>
                </a:solidFill>
                <a:latin typeface="Aptos Display"/>
                <a:ea typeface="Aptos Display"/>
                <a:cs typeface="Aptos Display"/>
              </a:rPr>
              <a:t>6.43%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764FE-F869-439A-A2CD-A9F4BB97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241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667478"/>
                </a:solidFill>
                <a:latin typeface="Aptos"/>
                <a:ea typeface="Aptos"/>
                <a:cs typeface="Aptos"/>
              </a:rPr>
              <a:t>unvaccinated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99EC09-19FA-4D91-BE9A-CDE34ADC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476625"/>
            <a:ext cx="557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A8B4FA-1751-4F8F-83D6-919B4EF9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829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667478"/>
                </a:solidFill>
                <a:latin typeface="Aptos"/>
                <a:ea typeface="Aptos"/>
                <a:cs typeface="Aptos"/>
              </a:rPr>
              <a:t>Crude 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F8D93E-2954-4206-AB52-07178742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38625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 i="0">
                <a:solidFill>
                  <a:srgbClr val="C95C5C"/>
                </a:solidFill>
                <a:latin typeface="Aptos"/>
                <a:ea typeface="Aptos"/>
                <a:cs typeface="Aptos"/>
              </a:defRPr>
            </a:pPr>
            <a:r>
              <a:rPr sz="2850" b="1" i="0">
                <a:solidFill>
                  <a:srgbClr val="C95C5C"/>
                </a:solidFill>
                <a:latin typeface="Aptos"/>
                <a:ea typeface="Aptos"/>
                <a:cs typeface="Aptos"/>
              </a:rPr>
              <a:t>+0.76 percentage points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EDF52B-7871-46B3-9C8E-23C5CF70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57350"/>
            <a:ext cx="4762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42BC35-0712-477A-9832-62D193E1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76400"/>
            <a:ext cx="43053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Higher-risk adults are more likely to be vaccinated. The association mixes baseline risk with the vaccine effect.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B341A0-C6AF-483C-93D5-FEBD8ACB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95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Question for the room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A1B624-F93F-4C81-89DB-9B18FCDF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9580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What must be specified before we decide whether this is harm, protection, or neither?</a:t>
            </a:r>
          </a:p>
        </p:txBody>
      </p:sp>
    </p:spTree>
    <p:extLst>
      <p:ext uri="{BB962C8B-B14F-4D97-AF65-F5344CB8AC3E}">
        <p14:creationId xmlns:p14="http://schemas.microsoft.com/office/powerpoint/2010/main" val="8296314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DED83B-F045-4593-BF9F-BB5DDD70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B7E57-EA09-4757-8BB3-6B5C1284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0E9758E-121B-45F5-AAFA-08E9F3F8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Lock the target trial before the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599F5-DF98-4ADC-BAE4-3E316AFE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 i="0">
                <a:solidFill>
                  <a:srgbClr val="D8E4E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D8E4E6"/>
                </a:solidFill>
                <a:latin typeface="Aptos"/>
                <a:ea typeface="Aptos"/>
                <a:cs typeface="Aptos"/>
              </a:rPr>
              <a:t>Step 1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DAA41-A590-4424-9BF3-CE5CB3DF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PREPARED STUDY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C5092-50C9-4918-82E6-9BCCBDD5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Population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EABC4-510E-4B53-AC52-A104E819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192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Synthetic adult cohort, N=5,000; age centered at 65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602DEF-6026-43DB-BFA7-09087688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6217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123B6-5E41-4E4C-9538-A2733960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Treatment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CF401D-CDB9-44E6-BB00-D97414EE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003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Vaccination at baseline (A=1)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A5C49-E63E-4D66-8A1D-92B58695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432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A9DD26-8DBB-46B8-A8C8-299375C6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813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Comparator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1F99D1-6E38-4E41-AE14-E26AE51F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813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No vaccination at baseline (A=0)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9CA7EE-8C3A-45FA-96E2-6793434F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2427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ABDE2B-4AE5-425E-B32C-73DBF1F7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624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C225E7-7C50-4518-8B80-F070D7DE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624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Pneumonia hospitalization within 12 months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239DF5-BEB7-43EF-BF3A-5C0E1C44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053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1B16D0-F325-412F-9150-BB66143B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434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Contrast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FC802-100B-4AA5-B6B3-D13E3F31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434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875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Average 12-month risk difference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E3E94C-FAAF-463C-B03B-2042D78C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8A1E13-893C-48B2-A7B3-9DE7984F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10115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Eligibility, treatment assignment, and follow-up all begin at the same time zero.</a:t>
            </a:r>
          </a:p>
        </p:txBody>
      </p:sp>
    </p:spTree>
    <p:extLst>
      <p:ext uri="{BB962C8B-B14F-4D97-AF65-F5344CB8AC3E}">
        <p14:creationId xmlns:p14="http://schemas.microsoft.com/office/powerpoint/2010/main" val="5122034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84F9B2-5762-46D9-9D2E-6E4D9365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EF010-C726-465D-8D8C-49F05119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8023BD-E692-427E-B159-29A5B01B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Step 1: question-first means fully specified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FB6CB-8B59-46F4-9CF9-0FFDE0E2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 i="0">
                <a:solidFill>
                  <a:srgbClr val="D8E4E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D8E4E6"/>
                </a:solidFill>
                <a:latin typeface="Aptos"/>
                <a:ea typeface="Aptos"/>
                <a:cs typeface="Aptos"/>
              </a:rPr>
              <a:t>Navigator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65264-73D8-48F4-8AE3-CB0D580D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8694B9-8FC3-46A7-B0A5-69CA7532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28725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27DD9-351A-4735-81D8-69CBBFBA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2382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Define the causal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223B4-C9BF-43D8-9A11-EC6A0F7F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DC8C1-7112-4AF3-B558-12D8491F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Intervention, comparator, and time zero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E7535A-9DAF-469D-A572-C33BB4E3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57475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CD687-4E9D-415F-AD8A-DE039819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Population and eligibility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23F4D7-776B-4E90-BAEB-639F1ECE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D9D2E9-E3B3-4087-98BF-C3F1122F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Outcome horizon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050F6A-85DA-4EA9-BBE4-4D20FDF1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FDD712-D159-4490-9CE6-8B0A65D3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Causal contrast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76DF9-14B5-48EC-A271-601072BB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152525"/>
            <a:ext cx="771525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c11ba6ff0b4ea2"/>
          <a:srcRect xmlns:a="http://schemas.openxmlformats.org/drawingml/2006/main" l="4972" t="0" r="49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0" y="1200150"/>
            <a:ext cx="7620000" cy="4762500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</p:spTree>
    <p:extLst>
      <p:ext uri="{BB962C8B-B14F-4D97-AF65-F5344CB8AC3E}">
        <p14:creationId xmlns:p14="http://schemas.microsoft.com/office/powerpoint/2010/main" val="17332855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53A0F9-D18B-49B4-87C7-E6E960CE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88B0F-5F35-4D73-B572-37CC0579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818E63-6AF3-415D-B7BC-A4EC358C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Step 2: the DAG names the adjustment set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1FBEA-5A5E-4DC2-AB8C-E931FF97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 i="0">
                <a:solidFill>
                  <a:srgbClr val="D8E4E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D8E4E6"/>
                </a:solidFill>
                <a:latin typeface="Aptos"/>
                <a:ea typeface="Aptos"/>
                <a:cs typeface="Aptos"/>
              </a:rPr>
              <a:t>Causal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ECDC6-B709-4867-ADF5-CE584A9B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The workshop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5356A-AA40-4B03-A8CE-7A7702E7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361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400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A compact model makes the confounding structure visible.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50D8D-EA9D-4065-BF23-790EBE35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52775"/>
            <a:ext cx="228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962E7-0721-4D3E-A4CC-96F3E9CB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432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3373B"/>
                </a:solidFill>
                <a:latin typeface="Aptos"/>
                <a:ea typeface="Aptos"/>
                <a:cs typeface="Aptos"/>
              </a:rPr>
              <a:t>Adjust for </a:t>
            </a:r>
            <a:r>
              <a:rPr sz="1650">
                <a:solidFill>
                  <a:srgbClr val="23373B"/>
                </a:solidFill>
                <a:latin typeface="Aptos"/>
                <a:ea typeface="Aptos"/>
                <a:cs typeface="Aptos"/>
              </a:rPr>
              <a:t>age and prior history.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B4641-5EAC-4EE8-B380-608540E0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57625"/>
            <a:ext cx="228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EF311-9D85-491A-8FC6-7A4BFA5D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481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3373B"/>
                </a:solidFill>
                <a:latin typeface="Aptos"/>
                <a:ea typeface="Aptos"/>
                <a:cs typeface="Aptos"/>
              </a:rPr>
              <a:t>Do not adjust for </a:t>
            </a:r>
            <a:r>
              <a:rPr sz="1650">
                <a:solidFill>
                  <a:srgbClr val="23373B"/>
                </a:solidFill>
                <a:latin typeface="Aptos"/>
                <a:ea typeface="Aptos"/>
                <a:cs typeface="Aptos"/>
              </a:rPr>
              <a:t>post-baseline descendants.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EAB43F-CC2A-446B-8FCF-9A20553B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62475"/>
            <a:ext cx="228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5B412D-FEE5-468D-AE96-36459155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529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3373B"/>
                </a:solidFill>
                <a:latin typeface="Aptos"/>
                <a:ea typeface="Aptos"/>
                <a:cs typeface="Aptos"/>
              </a:rPr>
              <a:t>Paste the full DAGitty </a:t>
            </a:r>
            <a:r>
              <a:rPr sz="1650">
                <a:solidFill>
                  <a:srgbClr val="23373B"/>
                </a:solidFill>
                <a:latin typeface="Aptos"/>
                <a:ea typeface="Aptos"/>
                <a:cs typeface="Aptos"/>
              </a:rPr>
              <a:t>from the participant kit.</a:t>
            </a:r>
          </a:p>
        </p:txBody>
      </p:sp>
      <p:sp>
        <p:nvSpPr>
          <p:cNvPr id="13" name="dag-node-W">
            <a:extLst xmlns:a="http://schemas.openxmlformats.org/drawingml/2006/main">
              <a:ext uri="{FF2B5EF4-FFF2-40B4-BE49-F238E27FC236}">
                <a16:creationId xmlns:a16="http://schemas.microsoft.com/office/drawing/2014/main" id="{D2EFA2CD-C13F-436D-91D9-192447A9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1657350"/>
            <a:ext cx="2234565" cy="913257"/>
          </a:xfrm>
          <a:prstGeom xmlns:a="http://schemas.openxmlformats.org/drawingml/2006/main" prst="roundRect">
            <a:avLst>
              <a:gd name="adj" fmla="val 12516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19050">
            <a:solidFill>
              <a:srgbClr val="E87516"/>
            </a:solidFill>
            <a:prstDash val="solid"/>
          </a:ln>
        </p:spPr>
      </p:sp>
      <p:sp>
        <p:nvSpPr>
          <p:cNvPr id="14" name="dag-node-A">
            <a:extLst xmlns:a="http://schemas.openxmlformats.org/drawingml/2006/main">
              <a:ext uri="{FF2B5EF4-FFF2-40B4-BE49-F238E27FC236}">
                <a16:creationId xmlns:a16="http://schemas.microsoft.com/office/drawing/2014/main" id="{D7222FDB-1F23-4910-AA89-D7417F2F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94760"/>
            <a:ext cx="1797368" cy="874395"/>
          </a:xfrm>
          <a:prstGeom xmlns:a="http://schemas.openxmlformats.org/drawingml/2006/main" prst="roundRect">
            <a:avLst>
              <a:gd name="adj" fmla="val 13072"/>
            </a:avLst>
          </a:prstGeom>
          <a:solidFill xmlns:a="http://schemas.openxmlformats.org/drawingml/2006/main">
            <a:srgbClr val="E9F6F1"/>
          </a:solidFill>
          <a:ln xmlns:a="http://schemas.openxmlformats.org/drawingml/2006/main" w="19050">
            <a:solidFill>
              <a:srgbClr val="1C8C68"/>
            </a:solidFill>
            <a:prstDash val="solid"/>
          </a:ln>
        </p:spPr>
      </p:sp>
      <p:sp>
        <p:nvSpPr>
          <p:cNvPr id="15" name="dag-node-Y">
            <a:extLst xmlns:a="http://schemas.openxmlformats.org/drawingml/2006/main">
              <a:ext uri="{FF2B5EF4-FFF2-40B4-BE49-F238E27FC236}">
                <a16:creationId xmlns:a16="http://schemas.microsoft.com/office/drawing/2014/main" id="{A3AAD359-BF66-4148-994C-C96F2183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8778" y="3794760"/>
            <a:ext cx="1797368" cy="874395"/>
          </a:xfrm>
          <a:prstGeom xmlns:a="http://schemas.openxmlformats.org/drawingml/2006/main" prst="roundRect">
            <a:avLst>
              <a:gd name="adj" fmla="val 13072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19050">
            <a:solidFill>
              <a:srgbClr val="C95C5C"/>
            </a:solidFill>
            <a:prstDash val="solid"/>
          </a:ln>
        </p:spPr>
      </p:sp>
      <p:cxnSp>
        <p:nvCxnSpPr>
          <p:cNvPr id="41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6232684" y="2570607"/>
            <a:ext cx="1967389" cy="12241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373B"/>
            </a:solidFill>
            <a:prstDash val="solid"/>
            <a:tailEnd type="arrow" w="med" len="med"/>
          </a:ln>
        </p:spPr>
      </p:cxnSp>
      <p:cxnSp>
        <p:nvCxnSpPr>
          <p:cNvPr id="42" name=""/>
          <p:cNvCxnSpPr>
            <a:stCxn xmlns:a="http://schemas.openxmlformats.org/drawingml/2006/main" id="13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8200073" y="2570607"/>
            <a:ext cx="1967389" cy="12241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373B"/>
            </a:solidFill>
            <a:prstDash val="solid"/>
            <a:tailEnd type="arrow" w="med" len="med"/>
          </a:ln>
        </p:spPr>
      </p:cxnSp>
      <p:cxnSp>
        <p:nvCxnSpPr>
          <p:cNvPr id="43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131368" y="4231958"/>
            <a:ext cx="213741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3373B"/>
            </a:solidFill>
            <a:prstDash val="solid"/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37B41E-9E0D-4284-AE33-91EEFFCE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1773936"/>
            <a:ext cx="2234565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95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2295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77B714-080F-4155-990C-05888980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9945" y="2123694"/>
            <a:ext cx="2040255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95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995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age · prior pneumonia · prior vaccine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1F4690-E941-4385-9475-33EFFC1E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40493"/>
            <a:ext cx="1797368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72" b="1" i="0">
                <a:solidFill>
                  <a:srgbClr val="1C8C68"/>
                </a:solidFill>
                <a:latin typeface="Aptos"/>
                <a:ea typeface="Aptos"/>
                <a:cs typeface="Aptos"/>
              </a:defRPr>
            </a:pPr>
            <a:r>
              <a:rPr sz="2372" b="1" i="0">
                <a:solidFill>
                  <a:srgbClr val="1C8C68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3CF17D-328D-4378-ABC9-B7531F8E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80535"/>
            <a:ext cx="1797368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24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224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vaccination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576A51-5487-4776-A1B0-6A5B85C1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8778" y="3940493"/>
            <a:ext cx="1797368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72" b="1" i="0">
                <a:solidFill>
                  <a:srgbClr val="C95C5C"/>
                </a:solidFill>
                <a:latin typeface="Aptos"/>
                <a:ea typeface="Aptos"/>
                <a:cs typeface="Aptos"/>
              </a:defRPr>
            </a:pPr>
            <a:r>
              <a:rPr sz="2372" b="1" i="0">
                <a:solidFill>
                  <a:srgbClr val="C95C5C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47BDC6-5D0F-4B8B-B0BC-397369B2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8778" y="4280535"/>
            <a:ext cx="1797368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24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224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pneumonia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74D9D8-8BCF-40DD-BAB0-39290235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57800"/>
            <a:ext cx="595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1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350" b="0" i="1">
                <a:solidFill>
                  <a:srgbClr val="667478"/>
                </a:solidFill>
                <a:latin typeface="Aptos"/>
                <a:ea typeface="Aptos"/>
                <a:cs typeface="Aptos"/>
              </a:rPr>
              <a:t>Simplified workshop DAG. The kit preserves all five nodes and nine edges.</a:t>
            </a:r>
          </a:p>
        </p:txBody>
      </p:sp>
    </p:spTree>
    <p:extLst>
      <p:ext uri="{BB962C8B-B14F-4D97-AF65-F5344CB8AC3E}">
        <p14:creationId xmlns:p14="http://schemas.microsoft.com/office/powerpoint/2010/main" val="13281181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D17F46-9313-41FD-A3BF-D999DD1E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A0619-4B50-4F19-918F-69FDB2D8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D1114D-72F6-40F6-B780-7998A0F0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Step 3: make the protocol computable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B4A78-C376-4C4F-80FA-96F1CA5A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 i="0">
                <a:solidFill>
                  <a:srgbClr val="D8E4E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D8E4E6"/>
                </a:solidFill>
                <a:latin typeface="Aptos"/>
                <a:ea typeface="Aptos"/>
                <a:cs typeface="Aptos"/>
              </a:rPr>
              <a:t>Observed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5F5E3-471C-43AA-9ED7-14137909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0D2B47-E373-4E5D-91FD-963BAE4B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28725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7D6F3-E991-41EE-95BD-273423B5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2382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Consider observed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06A92-B1B1-4C23-B055-7242F4CD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200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4200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5,000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CFE8C-1D31-4498-8B3E-C4B3D804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19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667478"/>
                </a:solidFill>
                <a:latin typeface="Aptos"/>
                <a:ea typeface="Aptos"/>
                <a:cs typeface="Aptos"/>
              </a:rPr>
              <a:t>people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D466F5-0304-4C93-8CAF-0B7FF1FA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99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200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4200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1,627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E78376-DA9F-4112-A61A-D4F5B593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76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667478"/>
                </a:solidFill>
                <a:latin typeface="Aptos"/>
                <a:ea typeface="Aptos"/>
                <a:cs typeface="Aptos"/>
              </a:rPr>
              <a:t>vaccinated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207EE7-DA8E-4EEC-AB9B-21EAA0F0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200" b="1" i="0">
                <a:solidFill>
                  <a:srgbClr val="C95C5C"/>
                </a:solidFill>
                <a:latin typeface="Aptos"/>
                <a:ea typeface="Aptos"/>
                <a:cs typeface="Aptos"/>
              </a:defRPr>
            </a:pPr>
            <a:r>
              <a:rPr sz="4200" b="1" i="0">
                <a:solidFill>
                  <a:srgbClr val="C95C5C"/>
                </a:solidFill>
                <a:latin typeface="Aptos"/>
                <a:ea typeface="Aptos"/>
                <a:cs typeface="Aptos"/>
              </a:rPr>
              <a:t>334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B74693-A39D-4A26-AE3E-D466F7ED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667478"/>
                </a:solidFill>
                <a:latin typeface="Aptos"/>
                <a:ea typeface="Aptos"/>
                <a:cs typeface="Aptos"/>
              </a:rPr>
              <a:t>pneumonia events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1F1992-E851-462A-AA8A-29E05A5D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152525"/>
            <a:ext cx="828675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c2c133d3884356"/>
          <a:srcRect xmlns:a="http://schemas.openxmlformats.org/drawingml/2006/main" l="1595" t="0" r="15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29000" y="1200150"/>
            <a:ext cx="8191500" cy="4762500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</p:spTree>
    <p:extLst>
      <p:ext uri="{BB962C8B-B14F-4D97-AF65-F5344CB8AC3E}">
        <p14:creationId xmlns:p14="http://schemas.microsoft.com/office/powerpoint/2010/main" val="10681779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FD1AB7-A62D-4FF0-8174-C3DBCBBC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BFA19-F48A-4235-ABE6-75CAD768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E98713-6BE7-413B-962D-700A1CA1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Step 4 is the audit gate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FAB933-4867-416B-9EE9-116D7128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 i="0">
                <a:solidFill>
                  <a:srgbClr val="D8E4E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D8E4E6"/>
                </a:solidFill>
                <a:latin typeface="Aptos"/>
                <a:ea typeface="Aptos"/>
                <a:cs typeface="Aptos"/>
              </a:rPr>
              <a:t>Identification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FB474-6E83-494C-8FAD-EE94B7B3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3381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325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Can the observed data answer the causal question?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2A473-4175-44F6-92E2-0EB3E855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76525"/>
            <a:ext cx="22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35366-3F81-4458-8221-50791631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Exchangeability given 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5EDDC7-F036-4745-A228-A65F06FC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48025"/>
            <a:ext cx="22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BA2624-62D6-4F00-89C6-C8AB3465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Practical positivity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0D940-031E-42D1-AF4C-6E4D18ED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9525"/>
            <a:ext cx="22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D1107-9D0B-420A-8EDF-98E1906E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Consistency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B248E2-C9AA-4D69-852E-4E9A349E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91025"/>
            <a:ext cx="22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ADFCBD-F733-4BA8-8A84-10BD69FC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No interference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15CFF-1037-4567-890B-4705871E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47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36419-50DA-414C-80EC-A9FA5C3B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67300"/>
            <a:ext cx="3162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If the answer is uncertain, name the causal gap before choosing an estimator.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5842CB-7FA7-42AD-884D-DBC8F5B5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152525"/>
            <a:ext cx="76200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2929997971478b"/>
          <a:srcRect xmlns:a="http://schemas.openxmlformats.org/drawingml/2006/main" l="5535" t="0" r="55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5750" y="1200150"/>
            <a:ext cx="7524750" cy="4762500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FA4129-E6D4-4E03-B02A-B6FB925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95625"/>
            <a:ext cx="5619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A7059A-1A8B-4966-9ADF-9D506B0C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71825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VERIFIED WORKSHOP ENTRY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08431E-1E5A-4B38-8E7B-1A73DD3B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81375"/>
            <a:ext cx="521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Crude RD +0.76 pp reverses the seeded intervention truth (-3.70 pp): confounding by indication.</a:t>
            </a:r>
          </a:p>
        </p:txBody>
      </p:sp>
    </p:spTree>
    <p:extLst>
      <p:ext uri="{BB962C8B-B14F-4D97-AF65-F5344CB8AC3E}">
        <p14:creationId xmlns:p14="http://schemas.microsoft.com/office/powerpoint/2010/main" val="16064151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BEA735-6350-4AF2-B029-55D33777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87FE5-FECE-47A0-8DC1-7177D422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C913E0-A498-48F4-911D-0338F354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Step 5: translate the causal target, exactly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0AA74-5593-4D8B-A8F8-42DFFA51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 i="0">
                <a:solidFill>
                  <a:srgbClr val="D8E4E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D8E4E6"/>
                </a:solidFill>
                <a:latin typeface="Aptos"/>
                <a:ea typeface="Aptos"/>
                <a:cs typeface="Aptos"/>
              </a:rPr>
              <a:t>Estimand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CF98D-3176-4856-BFDA-C1B662BF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CAUSAL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3F4DE-81A2-495F-A700-4EC25023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225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3225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ψ = E[Y¹] - E[Y⁰]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C114D-D8BD-40F3-B810-F63DD257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OBSERVED-DATA MAPPING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723C8-8514-42AD-876E-6DBC5225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81350"/>
            <a:ext cx="32861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Eₓ{ E(Y | A=1,W)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- E(Y | A=0,W) 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34E1F-7482-4659-8A23-248912E2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AE90DA-E8A4-4939-875D-87905397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Equality requires the Step 4 assumptions.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C493B2-72CB-4CD2-9CB9-26631847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152525"/>
            <a:ext cx="76200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82e24b01884d75"/>
          <a:srcRect xmlns:a="http://schemas.openxmlformats.org/drawingml/2006/main" l="5535" t="0" r="55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5750" y="1200150"/>
            <a:ext cx="7524750" cy="4762500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</p:spTree>
    <p:extLst>
      <p:ext uri="{BB962C8B-B14F-4D97-AF65-F5344CB8AC3E}">
        <p14:creationId xmlns:p14="http://schemas.microsoft.com/office/powerpoint/2010/main" val="10574453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11E0F8-0EBC-457E-A153-19C2EC67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69AC5-1576-488A-8191-17BE1768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4AA23D-BE50-4B02-A191-42756EB6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Step 6: choose an estimator for that target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8ADBE-1E2E-4093-89BE-A55C68C0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 i="0">
                <a:solidFill>
                  <a:srgbClr val="D8E4E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D8E4E6"/>
                </a:solidFill>
                <a:latin typeface="Aptos"/>
                <a:ea typeface="Aptos"/>
                <a:cs typeface="Aptos"/>
              </a:rPr>
              <a:t>TMLE bridge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C5DEA-4242-4A93-AD61-88360B73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98A95-6B91-4D8D-9DC8-0EF21455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28725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492F9-3B33-4594-B8A5-ED6C136D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2382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Choose the estimator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9A3D1C-3605-4B5C-BEF3-74AD357F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228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86EFA4-5BBD-48AE-8701-AE2A00FC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3373B"/>
                </a:solidFill>
                <a:latin typeface="Aptos"/>
                <a:ea typeface="Aptos"/>
                <a:cs typeface="Aptos"/>
              </a:rPr>
              <a:t>Primary: </a:t>
            </a:r>
            <a:r>
              <a:rPr sz="1650">
                <a:solidFill>
                  <a:srgbClr val="23373B"/>
                </a:solidFill>
                <a:latin typeface="Aptos"/>
                <a:ea typeface="Aptos"/>
                <a:cs typeface="Aptos"/>
              </a:rPr>
              <a:t>TMLE for the risk difference.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D22371-E6D3-4B2C-B273-C58034CC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1775"/>
            <a:ext cx="228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3A2DAF-7A11-4DDE-B227-EA146596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3373B"/>
                </a:solidFill>
                <a:latin typeface="Aptos"/>
                <a:ea typeface="Aptos"/>
                <a:cs typeface="Aptos"/>
              </a:rPr>
              <a:t>Q(A,W): </a:t>
            </a:r>
            <a:r>
              <a:rPr sz="1650">
                <a:solidFill>
                  <a:srgbClr val="23373B"/>
                </a:solidFill>
                <a:latin typeface="Aptos"/>
                <a:ea typeface="Aptos"/>
                <a:cs typeface="Aptos"/>
              </a:rPr>
              <a:t>outcome regression.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B734E-2972-43A0-A4B8-52E7D013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19475"/>
            <a:ext cx="228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7F49D-D48E-464E-917C-6E7DDB67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3373B"/>
                </a:solidFill>
                <a:latin typeface="Aptos"/>
                <a:ea typeface="Aptos"/>
                <a:cs typeface="Aptos"/>
              </a:rPr>
              <a:t>g(W): </a:t>
            </a:r>
            <a:r>
              <a:rPr sz="1650">
                <a:solidFill>
                  <a:srgbClr val="23373B"/>
                </a:solidFill>
                <a:latin typeface="Aptos"/>
                <a:ea typeface="Aptos"/>
                <a:cs typeface="Aptos"/>
              </a:rPr>
              <a:t>treatment mechanism.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680823-846F-4636-AAA7-A3F89DD2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67175"/>
            <a:ext cx="228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35E842-409A-44AF-BA73-64FB2E79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3373B"/>
                </a:solidFill>
                <a:latin typeface="Aptos"/>
                <a:ea typeface="Aptos"/>
                <a:cs typeface="Aptos"/>
              </a:rPr>
              <a:t>Uncertainty: </a:t>
            </a:r>
            <a:r>
              <a:rPr sz="1650">
                <a:solidFill>
                  <a:srgbClr val="23373B"/>
                </a:solidFill>
                <a:latin typeface="Aptos"/>
                <a:ea typeface="Aptos"/>
                <a:cs typeface="Aptos"/>
              </a:rPr>
              <a:t>influence-function 95% CI.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B03E22-4299-49B7-906A-DC273A06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D5257B-AED8-4AEE-9DD3-94BCA9E7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31623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An estimator can reduce statistical bias. It cannot repair a bad question, missing time zero, or an unidentified effect.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000FDC-648E-443A-836E-50717DDE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152525"/>
            <a:ext cx="76200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ab228b3ff40c6"/>
          <a:srcRect xmlns:a="http://schemas.openxmlformats.org/drawingml/2006/main" l="5535" t="0" r="55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5750" y="1200150"/>
            <a:ext cx="7524750" cy="4762500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5E9032-8F07-40B0-B562-0B24F063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24100"/>
            <a:ext cx="5619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F98613-2D1F-46DD-91D8-BA4FFA3E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003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VERIFIED OUTCOME-BLIND 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030DEC-2886-4B9E-B0DC-3DDD928F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19375"/>
            <a:ext cx="521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Crude RD +0.76 pp; seeded intervention truth -3.70 pp. Compare estimator bias and RMSE before looking at outcomes.</a:t>
            </a:r>
          </a:p>
        </p:txBody>
      </p:sp>
    </p:spTree>
    <p:extLst>
      <p:ext uri="{BB962C8B-B14F-4D97-AF65-F5344CB8AC3E}">
        <p14:creationId xmlns:p14="http://schemas.microsoft.com/office/powerpoint/2010/main" val="14801767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F5C03F-9965-43ED-9099-6CB58731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C3506-416C-4A54-99F3-D1CFBC0A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059EC9-C55D-4911-84C4-6A016B8E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Step 7: sensitivity is part of the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4032B-DA12-4493-AC4A-4DFDD3D9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 i="0">
                <a:solidFill>
                  <a:srgbClr val="D8E4E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D8E4E6"/>
                </a:solidFill>
                <a:latin typeface="Aptos"/>
                <a:ea typeface="Aptos"/>
                <a:cs typeface="Aptos"/>
              </a:rPr>
              <a:t>Causal gap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20B6E-AA41-4D0C-A49E-DBBFB03D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325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Prespecify the stress tests before the result.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D607A-AA11-4686-8720-5DB3C8F5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19375"/>
            <a:ext cx="22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44360-0488-4ED7-A8CF-289E2201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Unmeasured confounding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0934B7-06FC-493A-AF76-ECD7E58C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22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EDB76C-91A2-4E5C-A0FE-D27E0B0C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Outcome misclassification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55D479-B391-4CBC-8DC4-6D156BD3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81425"/>
            <a:ext cx="22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A9E88A-695A-4D09-9FF4-196A7CA1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Selection and censoring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5E3572-6061-4348-AAC4-231F3350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22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67296D-9943-476C-B6F0-87528D6E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Alternative learners and truncation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4DA117-02FC-4E90-81D3-DCDE08E9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47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31F98-8CBD-405D-9E56-C76A1FC7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67300"/>
            <a:ext cx="3162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Robustness threshold: about +3 percentage points would move the TMLE point estimate to the null.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0752EE-A378-457A-834B-2740D4CC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152525"/>
            <a:ext cx="76200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7668aac42487e"/>
          <a:srcRect xmlns:a="http://schemas.openxmlformats.org/drawingml/2006/main" l="5535" t="0" r="55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5750" y="1200150"/>
            <a:ext cx="7524750" cy="4762500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56B25A-E6F8-4C3D-B32A-FEEFCD02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00450"/>
            <a:ext cx="5619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D86C4D-584F-4447-BEF6-C1168653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05225"/>
            <a:ext cx="521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For the simulated causal RR of 0.51, the point-estimate E-value is about 3.30.</a:t>
            </a:r>
          </a:p>
        </p:txBody>
      </p:sp>
    </p:spTree>
    <p:extLst>
      <p:ext uri="{BB962C8B-B14F-4D97-AF65-F5344CB8AC3E}">
        <p14:creationId xmlns:p14="http://schemas.microsoft.com/office/powerpoint/2010/main" val="11244572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7F31DC-3336-4927-9096-8D9D48C5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2652D-A94A-4906-9570-EDC430E3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D33314-CC6E-4203-8CE8-F771E4BA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Adjustment reverses the 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EFB01-6CE3-4C77-8582-F0C6A6E8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 i="0">
                <a:solidFill>
                  <a:srgbClr val="D8E4E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D8E4E6"/>
                </a:solidFill>
                <a:latin typeface="Aptos"/>
                <a:ea typeface="Aptos"/>
                <a:cs typeface="Aptos"/>
              </a:rPr>
              <a:t>Result reveal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19125" y="1619250"/>
          <a:ext xmlns:a="http://schemas.openxmlformats.org/drawingml/2006/main" cx="7524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f04fbf272e465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FF8E3-D0E3-43D6-A4C7-A40E5005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1445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67478"/>
                </a:solidFill>
                <a:latin typeface="Aptos"/>
                <a:ea typeface="Aptos"/>
                <a:cs typeface="Aptos"/>
              </a:rPr>
              <a:t>12-month risk difference (percentage points)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EB160-7298-496A-B8D8-AC365544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906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C95C5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95C5C"/>
                </a:solidFill>
                <a:latin typeface="Aptos"/>
                <a:ea typeface="Aptos"/>
                <a:cs typeface="Aptos"/>
              </a:rPr>
              <a:t>Crude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86136-4466-4214-B8C2-BA8945E5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52625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C95C5C"/>
                </a:solidFill>
                <a:latin typeface="Aptos"/>
                <a:ea typeface="Aptos"/>
                <a:cs typeface="Aptos"/>
              </a:defRPr>
            </a:pPr>
            <a:r>
              <a:rPr sz="3525" b="1" i="0">
                <a:solidFill>
                  <a:srgbClr val="C95C5C"/>
                </a:solidFill>
                <a:latin typeface="Aptos"/>
                <a:ea typeface="Aptos"/>
                <a:cs typeface="Aptos"/>
              </a:rPr>
              <a:t>+0.76 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57DDAC-7C92-4D19-9CAD-BFA3D242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48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C8C6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C8C68"/>
                </a:solidFill>
                <a:latin typeface="Aptos"/>
                <a:ea typeface="Aptos"/>
                <a:cs typeface="Aptos"/>
              </a:rPr>
              <a:t>TMLE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92F926-DC65-405D-A214-439AD83B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0995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1C8C68"/>
                </a:solidFill>
                <a:latin typeface="Aptos"/>
                <a:ea typeface="Aptos"/>
                <a:cs typeface="Aptos"/>
              </a:defRPr>
            </a:pPr>
            <a:r>
              <a:rPr sz="3525" b="1" i="0">
                <a:solidFill>
                  <a:srgbClr val="1C8C68"/>
                </a:solidFill>
                <a:latin typeface="Aptos"/>
                <a:ea typeface="Aptos"/>
                <a:cs typeface="Aptos"/>
              </a:rPr>
              <a:t>-3.04 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D88B2C-C6D1-40D4-A87B-5EAA414B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667478"/>
                </a:solidFill>
                <a:latin typeface="Aptos"/>
                <a:ea typeface="Aptos"/>
                <a:cs typeface="Aptos"/>
              </a:rPr>
              <a:t>95% CI: -4.61 to -1.47 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5FAD78-24CE-42FA-BC8B-1FD9BA93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577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5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CCF35A-E41E-4156-8E23-8B83ED78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76800"/>
            <a:ext cx="25431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Same data. Different question answered.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9B5DA5-5628-437B-B26D-ED27D23D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5312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1">
                <a:solidFill>
                  <a:srgbClr val="8A9598"/>
                </a:solidFill>
                <a:latin typeface="Aptos"/>
                <a:ea typeface="Aptos"/>
                <a:cs typeface="Aptos"/>
              </a:defRPr>
            </a:pPr>
            <a:r>
              <a:rPr sz="1200" b="0" i="1">
                <a:solidFill>
                  <a:srgbClr val="8A9598"/>
                </a:solidFill>
                <a:latin typeface="Aptos"/>
                <a:ea typeface="Aptos"/>
                <a:cs typeface="Aptos"/>
              </a:rPr>
              <a:t>Synthetic teaching result - not clinical evidence</a:t>
            </a:r>
          </a:p>
        </p:txBody>
      </p:sp>
    </p:spTree>
    <p:extLst>
      <p:ext uri="{BB962C8B-B14F-4D97-AF65-F5344CB8AC3E}">
        <p14:creationId xmlns:p14="http://schemas.microsoft.com/office/powerpoint/2010/main" val="16529653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922087-9692-4083-AE59-2480270F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54D6F-B654-4F7E-8AA8-A6AEACB0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E961B0-1ECC-43BC-95C0-DA6F5CDE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Step 8: interpretation inherits every prior assumption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1E81D-0579-4191-BA5A-AAE7E713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 i="0">
                <a:solidFill>
                  <a:srgbClr val="D8E4E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D8E4E6"/>
                </a:solidFill>
                <a:latin typeface="Aptos"/>
                <a:ea typeface="Aptos"/>
                <a:cs typeface="Aptos"/>
              </a:rPr>
              <a:t>Finalize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C84CB-74F9-4AA7-B4A4-E25B5807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858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C8C6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C8C68"/>
                </a:solidFill>
                <a:latin typeface="Aptos"/>
                <a:ea typeface="Aptos"/>
                <a:cs typeface="Aptos"/>
              </a:rPr>
              <a:t>Defensible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EAD1A-9CF0-45CD-8A26-B0B1A5FD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24025"/>
            <a:ext cx="333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1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2250" b="1" i="1">
                <a:solidFill>
                  <a:srgbClr val="23373B"/>
                </a:solidFill>
                <a:latin typeface="Aptos"/>
                <a:ea typeface="Aptos"/>
                <a:cs typeface="Aptos"/>
              </a:rPr>
              <a:t>“In this teaching simulation, roadmap-guided adjustment recovers the protective direction.”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EEB0A-AD97-47C3-AC26-30590CD2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81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C95C5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95C5C"/>
                </a:solidFill>
                <a:latin typeface="Aptos"/>
                <a:ea typeface="Aptos"/>
                <a:cs typeface="Aptos"/>
              </a:rPr>
              <a:t>Not defensible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0D27F-EB8A-4339-B766-C4BBB5BD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3333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 i="1">
                <a:solidFill>
                  <a:srgbClr val="C95C5C"/>
                </a:solidFill>
                <a:latin typeface="Aptos"/>
                <a:ea typeface="Aptos"/>
                <a:cs typeface="Aptos"/>
              </a:defRPr>
            </a:pPr>
            <a:r>
              <a:rPr sz="2175" b="1" i="1">
                <a:solidFill>
                  <a:srgbClr val="C95C5C"/>
                </a:solidFill>
                <a:latin typeface="Aptos"/>
                <a:ea typeface="Aptos"/>
                <a:cs typeface="Aptos"/>
              </a:rPr>
              <a:t>“The vaccine prevents pneumonia in real patients.”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E3A0D-9696-4D4E-9152-FFDD4872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152525"/>
            <a:ext cx="7620000" cy="4857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ad3050f2d043a0"/>
          <a:srcRect xmlns:a="http://schemas.openxmlformats.org/drawingml/2006/main" l="5535" t="0" r="55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5750" y="1200150"/>
            <a:ext cx="7524750" cy="4762500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DA48D-32F8-4091-B004-40C3AAC4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71650"/>
            <a:ext cx="5619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AA5B19-76BF-4A76-80C5-C5F682E7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478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VERIFIED COMPARISON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C5D6F9-030B-458A-A062-E8DBB28A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66925"/>
            <a:ext cx="521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Known intervention simulation: RD -3.70 pp, RR 0.51. TMLE recovers the protective direction; real studies still depend on measurement, adherence, capture, and positivity.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DAA4C6-B235-4AE6-B960-CC85CCF2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57525"/>
            <a:ext cx="5619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A1F2A1-190B-4868-8C5F-2983AC06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33725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VERIFIED LIMITATIONS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6C3DC9-CEB8-44EB-BA40-BE5D31DA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52800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Synthetic data; three-confounder DAG; perfect measurement; complete follow-up; no interference; Super Learner nuisance models; finite-sample error. No clinical or policy conclusion follows.</a:t>
            </a:r>
          </a:p>
        </p:txBody>
      </p:sp>
    </p:spTree>
    <p:extLst>
      <p:ext uri="{BB962C8B-B14F-4D97-AF65-F5344CB8AC3E}">
        <p14:creationId xmlns:p14="http://schemas.microsoft.com/office/powerpoint/2010/main" val="309737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DEC22C-CF0C-4AB5-BC5C-093B3E4F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32DE8-15A2-4017-8FC7-DB4AC51A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DC5512-299C-4E42-AD5A-D0FAE0F0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Export the plan, then defend one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02C87-4B34-4E13-8E41-2AA39E02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 i="0">
                <a:solidFill>
                  <a:srgbClr val="D8E4E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D8E4E6"/>
                </a:solidFill>
                <a:latin typeface="Aptos"/>
                <a:ea typeface="Aptos"/>
                <a:cs typeface="Aptos"/>
              </a:rPr>
              <a:t>Participant challenge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9ECCD-7D52-4A77-85D7-F5B53B8B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The participant kit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9A608-2B57-4A5C-BA2C-2808E455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667478"/>
                </a:solidFill>
                <a:latin typeface="Aptos"/>
                <a:ea typeface="Aptos"/>
                <a:cs typeface="Aptos"/>
              </a:rPr>
              <a:t>Complete roadmap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68F23C-CE91-409C-AD98-D613EF89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907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causal-roadmap-pneumonia-worked-example.md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D04F9-726E-4188-9505-458AB726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0275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EC2F5-ED40-4437-9038-363B7EE6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84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667478"/>
                </a:solidFill>
                <a:latin typeface="Aptos"/>
                <a:ea typeface="Aptos"/>
                <a:cs typeface="Aptos"/>
              </a:rPr>
              <a:t>Student guide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69CD9-9909-4720-B585-2B69B412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384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Pneumonia_Navigator_Student_Guide.pdf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813639-ADA1-442B-9E1E-27AD697A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47975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79A85E-6E6E-4531-972A-40AC8E95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861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667478"/>
                </a:solidFill>
                <a:latin typeface="Aptos"/>
                <a:ea typeface="Aptos"/>
                <a:cs typeface="Aptos"/>
              </a:rPr>
              <a:t>DAGitty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9A426-0A29-478A-92F9-A64BF24C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861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pneumonia.dagitty.txt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1DC9C1-0AD4-4F8E-A11B-AAC2FECD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95675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55B9D9-4340-4D5E-A44E-F18CCE74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338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667478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6C9D14-1B94-4B19-91D7-5FB51011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338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data/pneumonia_data.csv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9EA88-C46F-4096-A398-5416D074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43375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655159-112F-473F-B33A-2E8A0C4E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667478"/>
                </a:solidFill>
                <a:latin typeface="Aptos"/>
                <a:ea typeface="Aptos"/>
                <a:cs typeface="Aptos"/>
              </a:rPr>
              <a:t>Analysis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2F03CC-E69C-4190-B9B3-B678F5EA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815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code/pneumonia_navigator_tmle.R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AB7020-982C-4AF4-AB46-AE4DC282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91075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D3D7B6-0A43-4F0D-A962-46C32B19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52550"/>
            <a:ext cx="3429000" cy="4000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5F7F7"/>
          </a:solidFill>
          <a:ln xmlns:a="http://schemas.openxmlformats.org/drawingml/2006/main" w="9525">
            <a:solidFill>
              <a:srgbClr val="D8DE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10A1CB-2D96-425B-A709-07633312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ONE DECISION TO DEFEND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0F62FE-3903-4BEE-BF1B-4097F60A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Choose one Navigator field.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3BA5D4-E793-4D32-9792-D9DA7727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95600"/>
            <a:ext cx="276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800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1. What evidence makes the entry defensible?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800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2. What would make you revise it?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4D4CB4-1491-4543-91EB-2528DE0F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625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1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350" b="0" i="1">
                <a:solidFill>
                  <a:srgbClr val="667478"/>
                </a:solidFill>
                <a:latin typeface="Aptos"/>
                <a:ea typeface="Aptos"/>
                <a:cs typeface="Aptos"/>
              </a:rPr>
              <a:t>Compare with a partner before the export.</a:t>
            </a:r>
          </a:p>
        </p:txBody>
      </p:sp>
    </p:spTree>
    <p:extLst>
      <p:ext uri="{BB962C8B-B14F-4D97-AF65-F5344CB8AC3E}">
        <p14:creationId xmlns:p14="http://schemas.microsoft.com/office/powerpoint/2010/main" val="9015592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213FD5-F761-4C2F-AE66-3E3FC2CB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7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0E455-1568-4327-9285-5A0B9ED8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460B65-AA39-44DF-8F44-E361F474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097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estimator is now downstream of the science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13911-7041-4308-B91A-FFF74E01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 i="0">
                <a:solidFill>
                  <a:srgbClr val="D8E4E6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D8E4E6"/>
                </a:solidFill>
                <a:latin typeface="Aptos"/>
                <a:ea typeface="Aptos"/>
                <a:cs typeface="Aptos"/>
              </a:rPr>
              <a:t>Handoff to Module 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69A747-EE6C-4ABE-9AA0-A2C7EC76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667478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667478"/>
                </a:solidFill>
                <a:latin typeface="Aptos"/>
                <a:ea typeface="Aptos"/>
                <a:cs typeface="Aptos"/>
              </a:rPr>
              <a:t>Module F leaves us with: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CE271-0088-4687-9D0C-8F8BB1DC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22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4A9EF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4A9EFF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801EA-E4FD-4DAF-B33A-99ECA2B7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a specified target trial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24E24-5835-4E99-AE8D-951B4EC3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22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4A9EF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4A9EFF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D1324-DABB-4A2B-8D22-2E063CE5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an explicit causal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488E3-0003-4F0B-8931-2D90E8A6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22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4A9EF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4A9EFF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D9A024-2CBB-4828-B95B-BD22169C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99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an identification argument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DCD330-B47B-4537-9C6C-D759ED39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22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4A9EF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4A9EFF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83AA5-8C2E-401D-8628-A437EEBC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09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a statistical estimand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ED58F-1B1B-4C77-80D4-4E70D996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22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4A9EF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4A9EFF"/>
                </a:solidFill>
                <a:latin typeface="Aptos"/>
                <a:ea typeface="Aptos"/>
                <a:cs typeface="Aptos"/>
              </a:rPr>
              <a:t>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A084CB-2DCE-4239-9FFA-B50144AA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7197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0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2025" b="0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a prespecified estimator and sensitivity plan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72D7F3-D24B-4FD0-8104-5E8A0CF5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E87516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E87516"/>
                </a:solidFill>
                <a:latin typeface="Aptos"/>
                <a:ea typeface="Aptos"/>
                <a:cs typeface="Aptos"/>
              </a:rPr>
              <a:t>Module 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E18820-DC2E-462C-BCC9-D3761343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3714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1" i="0">
                <a:solidFill>
                  <a:srgbClr val="23373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23373B"/>
                </a:solidFill>
                <a:latin typeface="Aptos Display"/>
                <a:ea typeface="Aptos Display"/>
                <a:cs typeface="Aptos Display"/>
              </a:rPr>
              <a:t>implements the TMLE chosen here - without reopening the scientific question.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22DD52-97EC-48EE-9277-83997ED6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863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861812-E5AD-47A6-813F-226A5934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705350"/>
            <a:ext cx="3543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23373B"/>
                </a:solidFill>
                <a:latin typeface="Aptos"/>
                <a:ea typeface="Aptos"/>
                <a:cs typeface="Aptos"/>
              </a:defRPr>
            </a:pPr>
            <a:r>
              <a:rPr sz="2025" b="1" i="0">
                <a:solidFill>
                  <a:srgbClr val="23373B"/>
                </a:solidFill>
                <a:latin typeface="Aptos"/>
                <a:ea typeface="Aptos"/>
                <a:cs typeface="Aptos"/>
              </a:rPr>
              <a:t>Design first. Estimate second. Interpret last.</a:t>
            </a:r>
          </a:p>
        </p:txBody>
      </p:sp>
    </p:spTree>
    <p:extLst>
      <p:ext uri="{BB962C8B-B14F-4D97-AF65-F5344CB8AC3E}">
        <p14:creationId xmlns:p14="http://schemas.microsoft.com/office/powerpoint/2010/main" val="11352583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2026-07-26T22:45:41.0510000Z</dcterms:created>
  <dcterms:modified xsi:type="dcterms:W3CDTF">2026-07-26T22:45:41.0520000Z</dcterms:modified>
</coreProperties>
</file>