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760fd1a42946ef" /><Relationship Type="http://schemas.openxmlformats.org/officeDocument/2006/relationships/extended-properties" Target="/docProps/app.xml" Id="R30815aa2286f4cab" /><Relationship Type="http://schemas.openxmlformats.org/officeDocument/2006/relationships/officeDocument" Target="/ppt/presentation.xml" Id="Rbbaeae1b79654b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41c3bfd7494489"/>
  </p:sldMasterIdLst>
  <p:notesMasterIdLst>
    <p:notesMasterId xmlns:r="http://schemas.openxmlformats.org/officeDocument/2006/relationships" r:id="Rec5214d21aba4e5b"/>
  </p:notesMasterIdLst>
  <p:sldIdLst>
    <p:sldId xmlns:r="http://schemas.openxmlformats.org/officeDocument/2006/relationships" id="256" r:id="R17b4fe6d49c64a4b"/>
    <p:sldId xmlns:r="http://schemas.openxmlformats.org/officeDocument/2006/relationships" id="257" r:id="R50b021c6e5c64840"/>
    <p:sldId xmlns:r="http://schemas.openxmlformats.org/officeDocument/2006/relationships" id="258" r:id="R5b9e88dfda5c41bf"/>
    <p:sldId xmlns:r="http://schemas.openxmlformats.org/officeDocument/2006/relationships" id="259" r:id="R226a4b22fd594283"/>
    <p:sldId xmlns:r="http://schemas.openxmlformats.org/officeDocument/2006/relationships" id="260" r:id="R75f8f616e1084f22"/>
    <p:sldId xmlns:r="http://schemas.openxmlformats.org/officeDocument/2006/relationships" id="261" r:id="R583c35a769f64ef8"/>
    <p:sldId xmlns:r="http://schemas.openxmlformats.org/officeDocument/2006/relationships" id="262" r:id="R1a763f173e6c4140"/>
    <p:sldId xmlns:r="http://schemas.openxmlformats.org/officeDocument/2006/relationships" id="263" r:id="Rb415b88c3917415b"/>
    <p:sldId xmlns:r="http://schemas.openxmlformats.org/officeDocument/2006/relationships" id="264" r:id="R60cfb48dedfd47ce"/>
    <p:sldId xmlns:r="http://schemas.openxmlformats.org/officeDocument/2006/relationships" id="265" r:id="Rf73a5c834c6346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da4cc6ccc747bf" /><Relationship Type="http://schemas.openxmlformats.org/officeDocument/2006/relationships/slideMaster" Target="/ppt/slideMasters/slideMaster1.xml" Id="Rca41c3bfd7494489" /><Relationship Type="http://schemas.openxmlformats.org/officeDocument/2006/relationships/notesMaster" Target="/ppt/notesMasters/notesMaster1.xml" Id="Rec5214d21aba4e5b" /><Relationship Type="http://schemas.openxmlformats.org/officeDocument/2006/relationships/presProps" Target="/ppt/presProps.xml" Id="R640804193ce742bb" /><Relationship Type="http://schemas.openxmlformats.org/officeDocument/2006/relationships/tableStyles" Target="/ppt/tableStyles.xml" Id="Re8e1380e808b49b0" /><Relationship Type="http://schemas.openxmlformats.org/officeDocument/2006/relationships/slide" Target="/ppt/slides/slide1.xml" Id="R17b4fe6d49c64a4b" /><Relationship Type="http://schemas.openxmlformats.org/officeDocument/2006/relationships/slide" Target="/ppt/slides/slide2.xml" Id="R50b021c6e5c64840" /><Relationship Type="http://schemas.openxmlformats.org/officeDocument/2006/relationships/slide" Target="/ppt/slides/slide3.xml" Id="R5b9e88dfda5c41bf" /><Relationship Type="http://schemas.openxmlformats.org/officeDocument/2006/relationships/slide" Target="/ppt/slides/slide4.xml" Id="R226a4b22fd594283" /><Relationship Type="http://schemas.openxmlformats.org/officeDocument/2006/relationships/slide" Target="/ppt/slides/slide5.xml" Id="R75f8f616e1084f22" /><Relationship Type="http://schemas.openxmlformats.org/officeDocument/2006/relationships/slide" Target="/ppt/slides/slide6.xml" Id="R583c35a769f64ef8" /><Relationship Type="http://schemas.openxmlformats.org/officeDocument/2006/relationships/slide" Target="/ppt/slides/slide7.xml" Id="R1a763f173e6c4140" /><Relationship Type="http://schemas.openxmlformats.org/officeDocument/2006/relationships/slide" Target="/ppt/slides/slide8.xml" Id="Rb415b88c3917415b" /><Relationship Type="http://schemas.openxmlformats.org/officeDocument/2006/relationships/slide" Target="/ppt/slides/slide9.xml" Id="R60cfb48dedfd47ce" /><Relationship Type="http://schemas.openxmlformats.org/officeDocument/2006/relationships/slide" Target="/ppt/slides/slide10.xml" Id="Rf73a5c834c63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e7d98fe462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84bda6160a4fab" /><Relationship Type="http://schemas.openxmlformats.org/officeDocument/2006/relationships/notesMaster" Target="/ppt/notesMasters/notesMaster1.xml" Id="R891984c2945a46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1da272911344d2" /><Relationship Type="http://schemas.openxmlformats.org/officeDocument/2006/relationships/notesMaster" Target="/ppt/notesMasters/notesMaster1.xml" Id="Rd1bb3aa9d5464a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c9bc5ac0a64829" /><Relationship Type="http://schemas.openxmlformats.org/officeDocument/2006/relationships/notesMaster" Target="/ppt/notesMasters/notesMaster1.xml" Id="R4c9536d52f5142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32a173de3e4e07" /><Relationship Type="http://schemas.openxmlformats.org/officeDocument/2006/relationships/notesMaster" Target="/ppt/notesMasters/notesMaster1.xml" Id="R8bc22a9636ce49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9d08a0399f4cc3" /><Relationship Type="http://schemas.openxmlformats.org/officeDocument/2006/relationships/notesMaster" Target="/ppt/notesMasters/notesMaster1.xml" Id="Rd27be374731f41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5db2fce5824575" /><Relationship Type="http://schemas.openxmlformats.org/officeDocument/2006/relationships/notesMaster" Target="/ppt/notesMasters/notesMaster1.xml" Id="R0ece4fb3d4ec46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4d1ed1893d4342" /><Relationship Type="http://schemas.openxmlformats.org/officeDocument/2006/relationships/notesMaster" Target="/ppt/notesMasters/notesMaster1.xml" Id="R9b94fe8755c24e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be204f34fd49be" /><Relationship Type="http://schemas.openxmlformats.org/officeDocument/2006/relationships/notesMaster" Target="/ppt/notesMasters/notesMaster1.xml" Id="Rd31d4a49d5c548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4b4c4eabf34cf5" /><Relationship Type="http://schemas.openxmlformats.org/officeDocument/2006/relationships/notesMaster" Target="/ppt/notesMasters/notesMaster1.xml" Id="R73b3a1495bdc4b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5bdd63d9bb4cb9" /><Relationship Type="http://schemas.openxmlformats.org/officeDocument/2006/relationships/notesMaster" Target="/ppt/notesMasters/notesMaster1.xml" Id="R9ea640edf2fc4d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directly to the roadmap work completed in Module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modules/F/pneumonia-navigator-student-guide.md</a:t>
            </a:r>
          </a:p>
          <a:p xmlns:a="http://schemas.openxmlformats.org/drawingml/2006/main">
            <a:r>
              <a:t>- modules/D/art/InStats_RWL.png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reference slide. This deck is designed to stand alone without presenter commentary.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modules/F/pneumonia-navigator-student-guide.md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website can be used without login for manual entry and Markdown/text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https://navigator.tao-rwd.com/navigator</a:t>
            </a:r>
          </a:p>
          <a:p xmlns:a="http://schemas.openxmlformats.org/drawingml/2006/main">
            <a:r>
              <a:t>- modules/F/art/navigator-overview.png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five-node, nine-edge DAG is provided in the participant kit.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modules/F/pneumonia.dagitty.txt</a:t>
            </a:r>
          </a:p>
          <a:p xmlns:a="http://schemas.openxmlformats.org/drawingml/2006/main">
            <a:r>
              <a:t>- modules/F/pneumonia-navigator-student-guide.md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assumptions are true by construction only in the synthetic data-generating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modules/F/data/pneumonia_data.csv</a:t>
            </a:r>
          </a:p>
          <a:p xmlns:a="http://schemas.openxmlformats.org/drawingml/2006/main">
            <a:r>
              <a:t>- modules/F/outputs/pneumonia_diagnostics.csv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bridge to Module G. The learner library is prespecified in the completed R 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modules/F/code/pneumonia_navigator_tmle.R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Sensitivity analyses address causal and measurement assumptions that are outside ordinary sampling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modules/F/pneumonia-navigator-student-guide.md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adjusted methods agree on direction. Agreement does not by itself validate the real-world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modules/F/outputs/pneumonia_results.csv</a:t>
            </a:r>
          </a:p>
          <a:p xmlns:a="http://schemas.openxmlformats.org/drawingml/2006/main">
            <a:r>
              <a:t>- modules/F/code/pneumonia_navigator_tmle.R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full completed roadmap for the exact limitations and interpretation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modules/F/causal-roadmap-pneumonia-worked-example.md</a:t>
            </a:r>
          </a:p>
          <a:p xmlns:a="http://schemas.openxmlformats.org/drawingml/2006/main">
            <a:r>
              <a:t>- modules/F/pneumonia-navigator-student-guide.md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Participant exercise. The Markdown guide and completed export are included alongside this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modules/F/pneumonia-navigator-student-guide.md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b5850651a4c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01f85a958d442c" /><Relationship Type="http://schemas.openxmlformats.org/officeDocument/2006/relationships/slideLayout" Target="/ppt/slideLayouts/slideLayout1.xml" Id="R988944d0867144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8944d0867144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589e188d5490f" /><Relationship Type="http://schemas.openxmlformats.org/officeDocument/2006/relationships/image" Target="/ppt/media/image.png" Id="Re46993d412f24b95" /><Relationship Type="http://schemas.openxmlformats.org/officeDocument/2006/relationships/notesSlide" Target="/ppt/notesSlides/notesSlide1.xml" Id="R3b013676627440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c167e3e654aeb" /><Relationship Type="http://schemas.openxmlformats.org/officeDocument/2006/relationships/notesSlide" Target="/ppt/notesSlides/notesSlide2.xml" Id="R8189a845c7b5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b55d1da94494f" /><Relationship Type="http://schemas.openxmlformats.org/officeDocument/2006/relationships/image" Target="/ppt/media/image.jpeg" Id="R9a2c596ee21f46d8" /><Relationship Type="http://schemas.openxmlformats.org/officeDocument/2006/relationships/notesSlide" Target="/ppt/notesSlides/notesSlide3.xml" Id="R1d55b9967a2e43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2f3dab6ab497b" /><Relationship Type="http://schemas.openxmlformats.org/officeDocument/2006/relationships/notesSlide" Target="/ppt/notesSlides/notesSlide4.xml" Id="Rafcb2acc5bad4f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2d714e8354276" /><Relationship Type="http://schemas.openxmlformats.org/officeDocument/2006/relationships/notesSlide" Target="/ppt/notesSlides/notesSlide5.xml" Id="Rab22df3ea9174f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7771b917647c4" /><Relationship Type="http://schemas.openxmlformats.org/officeDocument/2006/relationships/notesSlide" Target="/ppt/notesSlides/notesSlide6.xml" Id="R4c9988bdf9744b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a3e0692574fe2" /><Relationship Type="http://schemas.openxmlformats.org/officeDocument/2006/relationships/notesSlide" Target="/ppt/notesSlides/notesSlide7.xml" Id="R22943ae936174b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b14cc18fb497c" /><Relationship Type="http://schemas.openxmlformats.org/officeDocument/2006/relationships/chart" Target="/ppt/slides/charts/chart1.xml" Id="Rd3bafb64d48140ce" /><Relationship Type="http://schemas.openxmlformats.org/officeDocument/2006/relationships/notesSlide" Target="/ppt/notesSlides/notesSlide8.xml" Id="Ra97a86d6564446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a0cca41614a43" /><Relationship Type="http://schemas.openxmlformats.org/officeDocument/2006/relationships/notesSlide" Target="/ppt/notesSlides/notesSlide9.xml" Id="R3c408328ba9443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7c5ad57a4445c" /><Relationship Type="http://schemas.openxmlformats.org/officeDocument/2006/relationships/notesSlide" Target="/ppt/notesSlides/notesSlide10.xml" Id="R6a3554fbfaed45c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Risk difference</c:v>
          </c:tx>
          <c:spPr>
            <a:solidFill xmlns:a="http://schemas.openxmlformats.org/drawingml/2006/main">
              <a:srgbClr val="1C8C6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C95C5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C8C6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C8C6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C8C6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4A9EFF"/>
              </a:solidFill>
            </c:spPr>
          </c:dPt>
          <c:cat>
            <c:strLit>
              <c:ptCount val="5"/>
              <c:pt idx="0">
                <c:v>Crude</c:v>
              </c:pt>
              <c:pt idx="1">
                <c:v>G-computation</c:v>
              </c:pt>
              <c:pt idx="2">
                <c:v>Hajek IPW</c:v>
              </c:pt>
              <c:pt idx="3">
                <c:v>TMLE</c:v>
              </c:pt>
              <c:pt idx="4">
                <c:v>DGP truth</c:v>
              </c:pt>
            </c:strLit>
          </c:cat>
          <c:val>
            <c:numLit>
              <c:formatCode>0.00" pp"</c:formatCode>
              <c:ptCount val="5"/>
              <c:pt idx="0">
                <c:v>0.7577</c:v>
              </c:pt>
              <c:pt idx="1">
                <c:v>-3.2763</c:v>
              </c:pt>
              <c:pt idx="2">
                <c:v>-2.9358</c:v>
              </c:pt>
              <c:pt idx="3">
                <c:v>-3.0386</c:v>
              </c:pt>
              <c:pt idx="4">
                <c:v>-3.7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337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3373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"/>
          <c:min val="-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C"/>
              </a:solidFill>
              <a:prstDash val="solid"/>
            </a:ln>
          </c:spPr>
        </c:majorGridlines>
        <c:numFmt formatCode="0.0&quot; pp&quot;"/>
        <c:majorTickMark val="none"/>
        <c:minorTickMark val="none"/>
        <c:spPr>
          <a:ln xmlns:a="http://schemas.openxmlformats.org/drawingml/2006/main" w="9525">
            <a:solidFill>
              <a:srgbClr val="D8DE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478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993d412f24b95"/>
          <a:stretch xmlns:a="http://schemas.openxmlformats.org/drawingml/2006/main"/>
        </p:blipFill>
        <p:spPr>
          <a:xfrm xmlns:a="http://schemas.openxmlformats.org/drawingml/2006/main">
            <a:off x="9525000" y="395343"/>
            <a:ext cx="2190750" cy="77141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134C2-609E-4B6B-9858-DBE3C864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rPr>
              <a:t>Pneumonia Vaccine Navigator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97D76-46E4-435E-81CC-1CEE49D4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4A9EFF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4A9EFF"/>
                </a:solidFill>
                <a:latin typeface="Aptos"/>
                <a:ea typeface="Aptos"/>
                <a:cs typeface="Aptos"/>
              </a:rPr>
              <a:t>Simplified, complete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3899D-35F6-430B-897D-39B90FE6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3966C-FAA3-4E08-A972-50F71215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Module F · Participant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A09AB-D92F-46A8-B8BD-904AEE5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Synthetic teaching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E7BA1-0A7C-4B45-9A4D-F73CEEF9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Instats · August 5, 2026</a:t>
            </a:r>
          </a:p>
        </p:txBody>
      </p:sp>
    </p:spTree>
    <p:extLst>
      <p:ext uri="{BB962C8B-B14F-4D97-AF65-F5344CB8AC3E}">
        <p14:creationId xmlns:p14="http://schemas.microsoft.com/office/powerpoint/2010/main" val="2070950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55885-4823-4D13-97FC-7E2FCE45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8F7A8-7B09-4C3C-B610-83C04E7F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4241FE-D249-4C0C-9B61-663C6E7D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1. Start with the causal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EF4C5-DC2D-40C0-865A-19284C07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CA0E8-F3C7-4F52-82FD-3257767B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70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rPr>
              <a:t>Among adults in a synthetic health-system cohort, what is the effect of pneumococcal vaccination at baseline, versus no vaccination, on 12-month pneumonia hospitalization?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77392-FB59-4F34-90E5-61CA6F9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9925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CD04C-B32E-4DCA-BF9D-DB5E066B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29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A=1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65172-E0F7-44FD-9170-37238AF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vaccination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337F2-C1DE-4145-B84A-B84E3FA7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29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A=0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69437-38EC-4FD3-8E23-7F1A9525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05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no vaccination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F7D1B-768C-4502-967E-161846B6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9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EDC1B-A342-4BEB-B000-879D9877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05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12-month hospitalization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CD8B5-043E-4991-90D9-D015ECE6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67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9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9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9B1D9-2DC7-4E82-9851-BD97954A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05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average risk difference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DCC74-6318-4654-9CE5-16D7C2CE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292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14B89-938B-4F82-947B-BCF91B67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48300"/>
            <a:ext cx="763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Synthetic data only: the result teaches workflow, not clinical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1906616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1E471-BD11-47B1-8C4C-B94F1C11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3CEC5-DFD7-44FE-8677-80858473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1C270F-36D9-4FBE-BDE6-47795AFF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Navigator is an eight-step spine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B394A-C032-4B3E-81A4-B890E0B5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573B3-ECE0-40C2-A810-66E4F406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733425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c596ee21f46d8"/>
          <a:srcRect xmlns:a="http://schemas.openxmlformats.org/drawingml/2006/main" l="4972" t="0" r="49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181100"/>
            <a:ext cx="7239000" cy="4524375"/>
          </a:xfrm>
          <a:prstGeom xmlns:a="http://schemas.openxmlformats.org/drawingml/2006/main" prst="roundRect">
            <a:avLst>
              <a:gd name="adj" fmla="val 168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DDF25-17A1-43DD-996F-141CDDC1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76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1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E01FE-1A73-40E1-974C-065118C2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28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2 Causal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FB421-4283-4CE2-A252-A818ED2F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3 Observed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9BA21-F75D-42EC-BD53-072CE168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337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4 Identification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AD20E-F6CC-47F5-A2A1-02E96170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86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5 Estimand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C26DE-57F4-475D-B781-609DC786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38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6 Estimator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48358-F321-4B08-9C97-6DC9FA07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91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7 Sensitivity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6267A-B08A-4415-8E0F-E90F2F7D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43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8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20DF6-152D-40A9-828D-38DF8D0E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81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1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425" b="0" i="1">
                <a:solidFill>
                  <a:srgbClr val="667478"/>
                </a:solidFill>
                <a:latin typeface="Aptos"/>
                <a:ea typeface="Aptos"/>
                <a:cs typeface="Aptos"/>
              </a:rPr>
              <a:t>Each answer constrains the next.</a:t>
            </a:r>
          </a:p>
        </p:txBody>
      </p:sp>
    </p:spTree>
    <p:extLst>
      <p:ext uri="{BB962C8B-B14F-4D97-AF65-F5344CB8AC3E}">
        <p14:creationId xmlns:p14="http://schemas.microsoft.com/office/powerpoint/2010/main" val="819499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678DA8-3C22-4CFA-B8D1-08DE6F91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B5C2B-2A0E-46C9-A966-C03674C3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F19467-BCB2-4C52-9E92-29A67CE0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Steps 1-2: protocol first, then the DAG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B71B5-799D-47F8-8008-960EDF9C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Question +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88CB9-73E0-47B0-8C33-ADA5C5DF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AA60D-6DCC-41D7-B2DE-F758C11E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228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01FE0-91AA-4E93-A04C-A4D3955D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4048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Population: </a:t>
            </a:r>
            <a:r>
              <a:rPr sz="1725">
                <a:solidFill>
                  <a:srgbClr val="23373B"/>
                </a:solidFill>
                <a:latin typeface="Aptos"/>
                <a:ea typeface="Aptos"/>
                <a:cs typeface="Aptos"/>
              </a:rPr>
              <a:t>5,000 simulated adults.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1EC52-75CB-45E4-87FC-8F83E702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86025"/>
            <a:ext cx="228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8F8FE-DD04-420E-A113-6BD3A55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048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Treatment: </a:t>
            </a:r>
            <a:r>
              <a:rPr sz="1725">
                <a:solidFill>
                  <a:srgbClr val="23373B"/>
                </a:solidFill>
                <a:latin typeface="Aptos"/>
                <a:ea typeface="Aptos"/>
                <a:cs typeface="Aptos"/>
              </a:rPr>
              <a:t>vaccination at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813A9-88D1-4A27-8806-F94C86A0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228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E46E6-83CB-442C-8B0F-3D98E1A2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4048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Outcome: </a:t>
            </a:r>
            <a:r>
              <a:rPr sz="1725">
                <a:solidFill>
                  <a:srgbClr val="23373B"/>
                </a:solidFill>
                <a:latin typeface="Aptos"/>
                <a:ea typeface="Aptos"/>
                <a:cs typeface="Aptos"/>
              </a:rPr>
              <a:t>pneumonia hospitalization by 12 months.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8FCBD-60B8-4102-907C-80EC74DC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228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0FD47-5FE0-421E-9184-46FF9332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4048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Contrast: </a:t>
            </a:r>
            <a:r>
              <a:rPr sz="1725">
                <a:solidFill>
                  <a:srgbClr val="23373B"/>
                </a:solidFill>
                <a:latin typeface="Aptos"/>
                <a:ea typeface="Aptos"/>
                <a:cs typeface="Aptos"/>
              </a:rPr>
              <a:t>average risk difference.</a:t>
            </a:r>
          </a:p>
        </p:txBody>
      </p:sp>
      <p:sp>
        <p:nvSpPr>
          <p:cNvPr id="14" name="dag-node-W">
            <a:extLst xmlns:a="http://schemas.openxmlformats.org/drawingml/2006/main">
              <a:ext uri="{FF2B5EF4-FFF2-40B4-BE49-F238E27FC236}">
                <a16:creationId xmlns:a16="http://schemas.microsoft.com/office/drawing/2014/main" id="{49DFF88B-B0D8-45C9-88E1-22BCE0E6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1600200"/>
            <a:ext cx="2059305" cy="841629"/>
          </a:xfrm>
          <a:prstGeom xmlns:a="http://schemas.openxmlformats.org/drawingml/2006/main" prst="roundRect">
            <a:avLst>
              <a:gd name="adj" fmla="val 13581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9050">
            <a:solidFill>
              <a:srgbClr val="E87516"/>
            </a:solidFill>
            <a:prstDash val="solid"/>
          </a:ln>
        </p:spPr>
      </p:sp>
      <p:sp>
        <p:nvSpPr>
          <p:cNvPr id="15" name="dag-node-A">
            <a:extLst xmlns:a="http://schemas.openxmlformats.org/drawingml/2006/main">
              <a:ext uri="{FF2B5EF4-FFF2-40B4-BE49-F238E27FC236}">
                <a16:creationId xmlns:a16="http://schemas.microsoft.com/office/drawing/2014/main" id="{3F2A29B4-0259-4075-B939-C1DD396F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69970"/>
            <a:ext cx="1656397" cy="805815"/>
          </a:xfrm>
          <a:prstGeom xmlns:a="http://schemas.openxmlformats.org/drawingml/2006/main" prst="roundRect">
            <a:avLst>
              <a:gd name="adj" fmla="val 14184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19050">
            <a:solidFill>
              <a:srgbClr val="1C8C68"/>
            </a:solidFill>
            <a:prstDash val="solid"/>
          </a:ln>
        </p:spPr>
      </p:sp>
      <p:sp>
        <p:nvSpPr>
          <p:cNvPr id="16" name="dag-node-Y">
            <a:extLst xmlns:a="http://schemas.openxmlformats.org/drawingml/2006/main">
              <a:ext uri="{FF2B5EF4-FFF2-40B4-BE49-F238E27FC236}">
                <a16:creationId xmlns:a16="http://schemas.microsoft.com/office/drawing/2014/main" id="{661ABC1D-C5E8-49A6-8E2C-A7E56655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18" y="3569970"/>
            <a:ext cx="1656397" cy="805815"/>
          </a:xfrm>
          <a:prstGeom xmlns:a="http://schemas.openxmlformats.org/drawingml/2006/main" prst="roundRect">
            <a:avLst>
              <a:gd name="adj" fmla="val 14184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9050">
            <a:solidFill>
              <a:srgbClr val="C95C5C"/>
            </a:solidFill>
            <a:prstDash val="solid"/>
          </a:ln>
        </p:spPr>
      </p:sp>
      <p:cxnSp>
        <p:nvCxnSpPr>
          <p:cNvPr id="44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638449" y="2441829"/>
            <a:ext cx="1813084" cy="112814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373B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451533" y="2441829"/>
            <a:ext cx="1813084" cy="112814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373B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466647" y="3972878"/>
            <a:ext cx="1969771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3373B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BC68A-7E07-4D76-8618-47C7646F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1707642"/>
            <a:ext cx="2059305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1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211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483ED-F691-498A-9C71-792A8F5F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415" y="2029968"/>
            <a:ext cx="1880235" cy="268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6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916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age · prior pneumonia · prior vaccine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E24F3-6BCF-4443-8962-FFC0A088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04273"/>
            <a:ext cx="1656397" cy="28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86" b="1" i="0">
                <a:solidFill>
                  <a:srgbClr val="1C8C68"/>
                </a:solidFill>
                <a:latin typeface="Aptos"/>
                <a:ea typeface="Aptos"/>
                <a:cs typeface="Aptos"/>
              </a:defRPr>
            </a:pPr>
            <a:r>
              <a:rPr sz="2186" b="1" i="0">
                <a:solidFill>
                  <a:srgbClr val="1C8C68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49412-8723-457A-93AA-83C525F9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7645"/>
            <a:ext cx="1656397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8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128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vaccination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BADA8-E187-4C5D-945C-D51312EF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18" y="3704273"/>
            <a:ext cx="1656397" cy="28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86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2186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F40DA-43D0-4C69-AEC8-51D5540C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18" y="4017645"/>
            <a:ext cx="1656397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8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128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pneumonia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9D034-E3FD-4329-904D-2B0FB33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482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7AE2B-5A40-4BAA-A415-C82EA3D4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6730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Adjustment set: age, prior pneumonia, and prior vaccination.</a:t>
            </a:r>
          </a:p>
        </p:txBody>
      </p:sp>
    </p:spTree>
    <p:extLst>
      <p:ext uri="{BB962C8B-B14F-4D97-AF65-F5344CB8AC3E}">
        <p14:creationId xmlns:p14="http://schemas.microsoft.com/office/powerpoint/2010/main" val="1713503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1FF9E-3DC7-47EE-A69C-818A41BD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0A934-98A3-44B0-A588-65801E79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D76F6A-74E3-4A45-96A2-93E9BB1A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Steps 3-4: map the data, then audit identification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DAB22-3D88-403B-B94C-3C2A1A95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Data + assumptions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50743-BF2D-4986-B0DB-80E4C072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66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35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5,000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7B644-B5A0-435E-861C-D2E44BD9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people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00F05-BD98-4B55-BD6C-A3E1CF0C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381125"/>
            <a:ext cx="166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35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1,627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CD9D8-D29E-49B1-B761-7598BBEF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81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vaccinated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2F714-F8D8-4936-9218-291E6026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81125"/>
            <a:ext cx="166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3525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334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CE6B5-57F0-4287-BF0D-29B70B95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DB7E3-AC1A-4672-9D83-CC0EC42F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76350"/>
            <a:ext cx="190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7F887-7F26-447E-944C-8DF0B747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Identification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772F2-92DE-440E-BEA0-3B5DF863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1A411-B61E-44C1-B782-380D0EBB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Exchangeability: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holds given W in the simulation.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DE788-B0CC-4969-933E-C1C4EAF7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76525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6ABC9-47C7-4C85-9EA0-D96EEB08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Positivity: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propensities stay about 0.08-0.91.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D8559-6CD9-4E86-A1A0-AEBDE200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C67CB-ECA0-41CA-B917-B7BB2D88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813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Consistency: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one baseline treatment version.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4BBAE-E5A4-4220-85B4-EA7A40BF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22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9B4FC-06C6-4332-87BD-DC669167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No interference: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assumed.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542F4-E42D-4438-AEB3-457BFDE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FCEBE-6DC8-4B09-9D8C-5C1AB83B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67300"/>
            <a:ext cx="411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In real EHR data, every one of these needs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B68E1-ED9F-4F94-BEB4-C318BB02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1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650" b="0" i="1">
                <a:solidFill>
                  <a:srgbClr val="667478"/>
                </a:solidFill>
                <a:latin typeface="Aptos"/>
                <a:ea typeface="Aptos"/>
                <a:cs typeface="Aptos"/>
              </a:rPr>
              <a:t>Point-treatment cohort · no missingness · complete 12-month outcomes</a:t>
            </a:r>
          </a:p>
        </p:txBody>
      </p:sp>
    </p:spTree>
    <p:extLst>
      <p:ext uri="{BB962C8B-B14F-4D97-AF65-F5344CB8AC3E}">
        <p14:creationId xmlns:p14="http://schemas.microsoft.com/office/powerpoint/2010/main" val="1167017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09E86-4B7F-4859-8D0F-2626ED0D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1CDD5-39CF-409D-845A-33C5EF9B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8632C5-8527-47E3-BBCB-B0074FA5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Steps 5-6: estimand before estimator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1189F-658B-497C-9A22-97EC262E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Target +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56042-BDF3-424E-8D70-95D03FCE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CAUSAL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BE753-A879-4BF3-8923-8E15A226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E[Y¹] - E[Y⁰]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9B86C-AE6D-4317-AA5B-10F28D2E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STATISTICAL ESTIMAND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56E6D-B78A-4B30-9287-A4B5E9D8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Eₓ{E(Y|A=1,W)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4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- E(Y|A=0,W)}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F6FE4-A563-4095-9FEE-4BDD5C9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14450"/>
            <a:ext cx="190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299B1-1858-4C8E-B627-4953581F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71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Primary estimator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5666C-898B-476B-9EA5-11EEB04F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 i="0">
                <a:solidFill>
                  <a:srgbClr val="1C8C68"/>
                </a:solidFill>
                <a:latin typeface="Aptos"/>
                <a:ea typeface="Aptos"/>
                <a:cs typeface="Aptos"/>
              </a:defRPr>
            </a:pPr>
            <a:r>
              <a:rPr sz="4125" b="1" i="0">
                <a:solidFill>
                  <a:srgbClr val="1C8C68"/>
                </a:solidFill>
                <a:latin typeface="Aptos"/>
                <a:ea typeface="Aptos"/>
                <a:cs typeface="Aptos"/>
              </a:rPr>
              <a:t>TMLE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3D8E8-C1EC-4F6D-923C-92FB951F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8607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0F5C0-53C0-456E-9198-3ACCE934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Q(A,W):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outcome regression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DD5DB-AA71-4515-954A-09DA2D0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D26FA-EB7E-4B55-B15F-7204620C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147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g(W):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treatment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7D505-0888-49F8-88AC-A721C2BB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62425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E4177-3247-449F-B5BD-DE15D157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Learners: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GLM, glmnet, ranger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247A3-78F3-41B3-98CC-58E5F680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00600"/>
            <a:ext cx="22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B7D48-CC54-4BAD-B0D7-E790B0CF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910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CI: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efficient influence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098C5-E071-4DE9-BB0B-F3F3BE03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C2A914-8A2D-45ED-9DFF-D9A05FBB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The estimator targets the quantity already chosen.</a:t>
            </a:r>
          </a:p>
        </p:txBody>
      </p:sp>
    </p:spTree>
    <p:extLst>
      <p:ext uri="{BB962C8B-B14F-4D97-AF65-F5344CB8AC3E}">
        <p14:creationId xmlns:p14="http://schemas.microsoft.com/office/powerpoint/2010/main" val="1799998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A48C9-B32F-4AF8-9755-47697497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8B99D-7AE1-4672-8744-013F44DA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389D89-E9FE-41E9-B176-067DE84E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7: plan how the conclusion could fail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FF5A0-F636-4233-A691-041E8A7E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AF300-4F07-4B6F-A372-0E9CB6F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Unmeasured confounding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4D2D7-5F48-4B8C-BF20-8F92F514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858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Could residual frailty or healthcare-seeking move the RD by +3 points?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DFDD2-E1A9-47B7-BACD-B042668C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40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75FE1-280B-4591-92AF-35458039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Outcome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A1ADB-3253-45F7-8E5E-DC13781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288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Would imperfect pneumonia coding change direction or magnitude?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65F8B-AD02-4F90-B8D9-57D680B8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317F7-D50C-4E58-9C14-6D022038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784FE-E8BA-4E12-BC64-A671359B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What if death, disenrollment, or EHR capture is informative?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24D10-E601-4CFB-A621-BE05D678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00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1FD84-B46C-4BD0-8DE5-17DD42AA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Estimation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142A0-701A-48C5-967B-3F71689D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148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Do alternative learners or propensity truncation change the result?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0AB03-FA74-49A2-B208-7D8F96D6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5787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24003-C1AF-46C1-A9B2-DA3AFFA1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76925"/>
            <a:ext cx="706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 confidence interval does not measure these causal gaps.</a:t>
            </a:r>
          </a:p>
        </p:txBody>
      </p:sp>
    </p:spTree>
    <p:extLst>
      <p:ext uri="{BB962C8B-B14F-4D97-AF65-F5344CB8AC3E}">
        <p14:creationId xmlns:p14="http://schemas.microsoft.com/office/powerpoint/2010/main" val="1949029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B6C62-EC41-47A2-A4B6-2DB7DD74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2D7AF-1001-4120-80BC-96FDB011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61E22D-535A-47C3-99C3-0814601C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sign reversal is the teaching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2EE79-DFE1-4314-BA58-A8313D58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000125" y="1571625"/>
          <a:ext xmlns:a="http://schemas.openxmlformats.org/drawingml/2006/main" cx="79057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bafb64d48140c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F1D13-FCE9-422F-BF38-148014E1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6682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12-month risk difference (percentage points)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7A974-210D-47DD-B2AF-7808591B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09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85EE5-7F16-497C-96C5-BB11BAEA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828800"/>
            <a:ext cx="21621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Crude: +0.76 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F3C4F-24BB-4B52-8D86-5743115D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670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F9477-9B69-4307-B36C-9AB4DD66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86100"/>
            <a:ext cx="21621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C8C68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C8C68"/>
                </a:solidFill>
                <a:latin typeface="Aptos"/>
                <a:ea typeface="Aptos"/>
                <a:cs typeface="Aptos"/>
              </a:rPr>
              <a:t>TMLE: -3.04 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8285F-EED1-498A-B8D3-B3912CE3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95% CI: -4.61 to -1.47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65E12-8467-4695-8D64-97C24C7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81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1">
                <a:solidFill>
                  <a:srgbClr val="8A9598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8A9598"/>
                </a:solidFill>
                <a:latin typeface="Aptos"/>
                <a:ea typeface="Aptos"/>
                <a:cs typeface="Aptos"/>
              </a:rPr>
              <a:t>Synthetic teaching result - not clinical evidence</a:t>
            </a:r>
          </a:p>
        </p:txBody>
      </p:sp>
    </p:spTree>
    <p:extLst>
      <p:ext uri="{BB962C8B-B14F-4D97-AF65-F5344CB8AC3E}">
        <p14:creationId xmlns:p14="http://schemas.microsoft.com/office/powerpoint/2010/main" val="1083007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8A092-FA5D-4B2E-A96A-E53D57C0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BC1B5-2503-4FD8-BCD6-1B416843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E0710B-3D65-48D2-B5FA-89360EAD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8: conclude only what the design supports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8A95B-FEE4-47BC-B610-457C9567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C46A9-5150-475B-A113-D768E7E0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C8C6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C8C68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8F30B-299B-403A-B192-EB5CD75B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In this known simulation, adjustment reverses the crude association and recovers a protective direction close to the causal truth.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9FCB8-EB38-4FAE-888B-8BB898C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190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DFC93-AC21-4219-A71D-64C830F8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Still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18939-86A6-4CF9-A395-A2C87359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977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72F71-05BE-4BC3-8033-596D4A5F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Clinical vaccine effectiveness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3710B-DAE5-4F19-A656-34EC1BC4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C7DA8-1D16-4E6B-A7B2-0E1424CA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812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C963F-7F1E-4697-BAC0-4E171115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2C644-2E25-47CD-B620-01249C23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Transportability to patients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7F454-5C28-449D-B79D-87A80D7D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6200C-D8A0-42E0-89BA-803B2AB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433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Real EHR confounding and measurement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F8B3E-9453-4AA9-9A10-40AB2C9A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676D7-2C2B-400C-BDC8-01B01CF9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Population transmission effects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4295C-C486-4AA0-BA06-AC55AA20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37A157-6664-4AE5-BE56-9ECC5A50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5925"/>
            <a:ext cx="887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The defensible conclusion is about the workflow, not the vaccine.</a:t>
            </a:r>
          </a:p>
        </p:txBody>
      </p:sp>
    </p:spTree>
    <p:extLst>
      <p:ext uri="{BB962C8B-B14F-4D97-AF65-F5344CB8AC3E}">
        <p14:creationId xmlns:p14="http://schemas.microsoft.com/office/powerpoint/2010/main" val="642850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42760-941F-434B-8A6D-DD3DF31F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DDBE3-FD62-4506-849A-A2E9BA7A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7237B8-5283-4245-B5F3-6FBC7402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Your turn: defend one Navigator entry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64DE7-779B-4102-8767-EE8C9E73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Workshop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65784-BECF-474D-8C08-06A16920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rPr>
              <a:t>Choose one field from Steps 1-8.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C19EF-25B3-4ADB-9503-D215B43E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634AC-4EA5-4639-9AF2-B1C4CE9F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7172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6CA04-8A1D-4250-B5F7-CAC5FE2D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526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What evidence makes the entry defensible?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81EFA-443E-4A3E-8763-472EEAE0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56649-F977-4D5D-A8A5-945EE3C3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51202-D6D3-4E06-8ED1-CBE7F303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What would make you revise 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276CC-08C1-4DD6-B4AC-798FBA8E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A7F04-FCC7-447B-9FBD-DA6FCA3E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624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4F2DA-2E85-49DC-9491-103A0AB3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4342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Which downstream decision changes if you revise it?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01543-5EDB-4D95-AD4B-648276C2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1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75" b="0" i="1">
                <a:solidFill>
                  <a:srgbClr val="667478"/>
                </a:solidFill>
                <a:latin typeface="Aptos"/>
                <a:ea typeface="Aptos"/>
                <a:cs typeface="Aptos"/>
              </a:rPr>
              <a:t>Use the completed roadmap as an answer key - not as a substitute for your argument.</a:t>
            </a:r>
          </a:p>
        </p:txBody>
      </p:sp>
    </p:spTree>
    <p:extLst>
      <p:ext uri="{BB962C8B-B14F-4D97-AF65-F5344CB8AC3E}">
        <p14:creationId xmlns:p14="http://schemas.microsoft.com/office/powerpoint/2010/main" val="1080646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2026-07-26T22:45:46.5800000Z</dcterms:created>
  <dcterms:modified xsi:type="dcterms:W3CDTF">2026-07-26T22:45:46.5800000Z</dcterms:modified>
</coreProperties>
</file>