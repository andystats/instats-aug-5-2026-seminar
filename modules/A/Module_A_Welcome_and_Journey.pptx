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6853fa8c2444e" /><Relationship Type="http://schemas.openxmlformats.org/officeDocument/2006/relationships/extended-properties" Target="/docProps/app.xml" Id="R5ed861b858284ee2" /><Relationship Type="http://schemas.openxmlformats.org/officeDocument/2006/relationships/officeDocument" Target="/ppt/presentation.xml" Id="R84759b51d315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12fbe06374ca3"/>
  </p:sldMasterIdLst>
  <p:notesMasterIdLst>
    <p:notesMasterId xmlns:r="http://schemas.openxmlformats.org/officeDocument/2006/relationships" r:id="R3725dbca033a427f"/>
  </p:notesMasterIdLst>
  <p:sldIdLst>
    <p:sldId xmlns:r="http://schemas.openxmlformats.org/officeDocument/2006/relationships" id="256" r:id="R184b76e76b86475e"/>
    <p:sldId xmlns:r="http://schemas.openxmlformats.org/officeDocument/2006/relationships" id="257" r:id="Rb18ba786263e460a"/>
    <p:sldId xmlns:r="http://schemas.openxmlformats.org/officeDocument/2006/relationships" id="258" r:id="Rc7de01fb315f4a80"/>
    <p:sldId xmlns:r="http://schemas.openxmlformats.org/officeDocument/2006/relationships" id="259" r:id="Rbc88a0b93f6748ac"/>
    <p:sldId xmlns:r="http://schemas.openxmlformats.org/officeDocument/2006/relationships" id="260" r:id="R28504fa8c04048a9"/>
    <p:sldId xmlns:r="http://schemas.openxmlformats.org/officeDocument/2006/relationships" id="261" r:id="R60ced8a6b8e54c99"/>
    <p:sldId xmlns:r="http://schemas.openxmlformats.org/officeDocument/2006/relationships" id="262" r:id="Re8153ae17f2e4312"/>
    <p:sldId xmlns:r="http://schemas.openxmlformats.org/officeDocument/2006/relationships" id="263" r:id="Rb7fdb31898bd419a"/>
    <p:sldId xmlns:r="http://schemas.openxmlformats.org/officeDocument/2006/relationships" id="264" r:id="Rcf5df580280a4906"/>
    <p:sldId xmlns:r="http://schemas.openxmlformats.org/officeDocument/2006/relationships" id="265" r:id="R4bc73b8085854085"/>
    <p:sldId xmlns:r="http://schemas.openxmlformats.org/officeDocument/2006/relationships" id="266" r:id="R44d92c675b704a73"/>
    <p:sldId xmlns:r="http://schemas.openxmlformats.org/officeDocument/2006/relationships" id="267" r:id="R6d48db28ce884e32"/>
    <p:sldId xmlns:r="http://schemas.openxmlformats.org/officeDocument/2006/relationships" id="268" r:id="Redabfb00a71c42b5"/>
    <p:sldId xmlns:r="http://schemas.openxmlformats.org/officeDocument/2006/relationships" id="269" r:id="R44dbf13b74e94d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589f3bc1a4426a" /><Relationship Type="http://schemas.openxmlformats.org/officeDocument/2006/relationships/slideMaster" Target="/ppt/slideMasters/slideMaster1.xml" Id="R98212fbe06374ca3" /><Relationship Type="http://schemas.openxmlformats.org/officeDocument/2006/relationships/notesMaster" Target="/ppt/notesMasters/notesMaster1.xml" Id="R3725dbca033a427f" /><Relationship Type="http://schemas.openxmlformats.org/officeDocument/2006/relationships/presProps" Target="/ppt/presProps.xml" Id="R0db97d121b3c44c3" /><Relationship Type="http://schemas.openxmlformats.org/officeDocument/2006/relationships/tableStyles" Target="/ppt/tableStyles.xml" Id="Ra7972f7277df447c" /><Relationship Type="http://schemas.openxmlformats.org/officeDocument/2006/relationships/slide" Target="/ppt/slides/slide1.xml" Id="R184b76e76b86475e" /><Relationship Type="http://schemas.openxmlformats.org/officeDocument/2006/relationships/slide" Target="/ppt/slides/slide2.xml" Id="Rb18ba786263e460a" /><Relationship Type="http://schemas.openxmlformats.org/officeDocument/2006/relationships/slide" Target="/ppt/slides/slide3.xml" Id="Rc7de01fb315f4a80" /><Relationship Type="http://schemas.openxmlformats.org/officeDocument/2006/relationships/slide" Target="/ppt/slides/slide4.xml" Id="Rbc88a0b93f6748ac" /><Relationship Type="http://schemas.openxmlformats.org/officeDocument/2006/relationships/slide" Target="/ppt/slides/slide5.xml" Id="R28504fa8c04048a9" /><Relationship Type="http://schemas.openxmlformats.org/officeDocument/2006/relationships/slide" Target="/ppt/slides/slide6.xml" Id="R60ced8a6b8e54c99" /><Relationship Type="http://schemas.openxmlformats.org/officeDocument/2006/relationships/slide" Target="/ppt/slides/slide7.xml" Id="Re8153ae17f2e4312" /><Relationship Type="http://schemas.openxmlformats.org/officeDocument/2006/relationships/slide" Target="/ppt/slides/slide8.xml" Id="Rb7fdb31898bd419a" /><Relationship Type="http://schemas.openxmlformats.org/officeDocument/2006/relationships/slide" Target="/ppt/slides/slide9.xml" Id="Rcf5df580280a4906" /><Relationship Type="http://schemas.openxmlformats.org/officeDocument/2006/relationships/slide" Target="/ppt/slides/slide10.xml" Id="R4bc73b8085854085" /><Relationship Type="http://schemas.openxmlformats.org/officeDocument/2006/relationships/slide" Target="/ppt/slides/slide11.xml" Id="R44d92c675b704a73" /><Relationship Type="http://schemas.openxmlformats.org/officeDocument/2006/relationships/slide" Target="/ppt/slides/slide12.xml" Id="R6d48db28ce884e32" /><Relationship Type="http://schemas.openxmlformats.org/officeDocument/2006/relationships/slide" Target="/ppt/slides/slide13.xml" Id="Redabfb00a71c42b5" /><Relationship Type="http://schemas.openxmlformats.org/officeDocument/2006/relationships/slide" Target="/ppt/slides/slide14.xml" Id="R44dbf13b74e9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25c9c1acf740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3b1dd5f99146df" /><Relationship Type="http://schemas.openxmlformats.org/officeDocument/2006/relationships/notesMaster" Target="/ppt/notesMasters/notesMaster1.xml" Id="Recf499efbb9344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ba7bf5e1cd4c2b" /><Relationship Type="http://schemas.openxmlformats.org/officeDocument/2006/relationships/notesMaster" Target="/ppt/notesMasters/notesMaster1.xml" Id="R42a5556ba57748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944b87b262451b" /><Relationship Type="http://schemas.openxmlformats.org/officeDocument/2006/relationships/notesMaster" Target="/ppt/notesMasters/notesMaster1.xml" Id="R158d2fd402ba44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49608b1b74186" /><Relationship Type="http://schemas.openxmlformats.org/officeDocument/2006/relationships/notesMaster" Target="/ppt/notesMasters/notesMaster1.xml" Id="Rff2ef9a5a56b4b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be0f3dfa1b4bd5" /><Relationship Type="http://schemas.openxmlformats.org/officeDocument/2006/relationships/notesMaster" Target="/ppt/notesMasters/notesMaster1.xml" Id="R932ae16088a347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0d7bca213a41ef" /><Relationship Type="http://schemas.openxmlformats.org/officeDocument/2006/relationships/notesMaster" Target="/ppt/notesMasters/notesMaster1.xml" Id="R9b0fb175c8f644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280226d7064081" /><Relationship Type="http://schemas.openxmlformats.org/officeDocument/2006/relationships/notesMaster" Target="/ppt/notesMasters/notesMaster1.xml" Id="Rfde53d93e5ba48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6b8a3697d344ef" /><Relationship Type="http://schemas.openxmlformats.org/officeDocument/2006/relationships/notesMaster" Target="/ppt/notesMasters/notesMaster1.xml" Id="R753c7031c5e149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472bca03ad4bbc" /><Relationship Type="http://schemas.openxmlformats.org/officeDocument/2006/relationships/notesMaster" Target="/ppt/notesMasters/notesMaster1.xml" Id="R4d9a6f9bb8fc45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37f42892234e5c" /><Relationship Type="http://schemas.openxmlformats.org/officeDocument/2006/relationships/notesMaster" Target="/ppt/notesMasters/notesMaster1.xml" Id="R5b10697d5dec47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0947bdb8d14cd8" /><Relationship Type="http://schemas.openxmlformats.org/officeDocument/2006/relationships/notesMaster" Target="/ppt/notesMasters/notesMaster1.xml" Id="Recfee16b899841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0f4901261a4e49" /><Relationship Type="http://schemas.openxmlformats.org/officeDocument/2006/relationships/notesMaster" Target="/ppt/notesMasters/notesMaster1.xml" Id="Race709fe1c0d4c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01c66ea6394640" /><Relationship Type="http://schemas.openxmlformats.org/officeDocument/2006/relationships/notesMaster" Target="/ppt/notesMasters/notesMaster1.xml" Id="Rd420ea2b29ad48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daba52898344c4" /><Relationship Type="http://schemas.openxmlformats.org/officeDocument/2006/relationships/notesMaster" Target="/ppt/notesMasters/notesMaster1.xml" Id="R2c9b1d57710f48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participants and confirm that all workshop times shown in this deck are Eastern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2026/Modules/A/SegmentA_Welcome.tex</a:t>
            </a:r>
          </a:p>
          <a:p xmlns:a="http://schemas.openxmlformats.org/drawingml/2006/main">
            <a:r>
              <a:t>- /Users/andywilson1/Library/CloudStorage/Box-Box/Active/Instats Causal Roadmaps AI Workshop Aug 5 2026/Modules/A/art/InStats_RWL.png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Kathryn and connect her consulting experience to the opening discussion of why polished analyses can still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2026/Modules/A/intros/bios.txt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2026/Modules/A/intros/Kathryn Morrison info.png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2026/Modules/A/intros/Kathryn Morrison.jpg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Andy's focus on practical causal methods and the Causal Navigator.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2026/Modules/A/intros/bios.txt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2026/Modules/A/intros/Andy Wilson.jpg</a:t>
            </a:r>
          </a:p>
          <a:p xmlns:a="http://schemas.openxmlformats.org/drawingml/2006/main">
            <a:r>
              <a:t>- /Users/andywilson1/Library/CloudStorage/Box-Box/Active/Instats Causal Roadmaps AI Workshop Aug 5 2026/Modules/A/SegmentA_Welcome.tex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Robert's example as the handoff from the welcome into the substantive workshop.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2026/Modules/A/intros/bios.txt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2026/Modules/A/intros/Robert Platt.jpg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Auriane and clarify her visible role in the live Navigator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2026/Modules/A/intros/bios.txt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2026/Modules/A/intros/Auriane Journet.jpg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several answers. Return to them in Module 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2026/Modules/A/SegmentA_Welcome.tex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river as a quick visual overview. The next seven slides preview Modules B through 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- /Users/andywilson1/Library/CloudStorage/Box-Box/Active/Instats Causal Roadmaps AI Workshop Aug 5 2026/Modules/A/art/river-journey.png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Robert's example without giving away the case details. The module moves from the question to the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- /Users/andywilson1/Library/CloudStorage/Box-Box/Active/Instats Causal Roadmaps AI Workshop Aug 5 2026/Modules/A/intros/bios.txt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foundations module and name the pneumonia-vaccine example that continues through the 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eight-step roadmap as the organizing structure for the live Navigator and TMLE sessions.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participant audit exercise. Emphasize that the evidence requirement matters more than fluency.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live demo contract and the three planned discussion pauses.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TMLE walkthrough at a high level. Detailed derivations are not part of this module preview.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closing module and show participants where the reusable materials will 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/Users/andywilson1/Library/CloudStorage/Box-Box/Active/Instats Causal Roadmaps AI Workshop Aug 5 2026/planning/Workshop Outline.docx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c94610fd845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3800182d9340a8" /><Relationship Type="http://schemas.openxmlformats.org/officeDocument/2006/relationships/slideLayout" Target="/ppt/slideLayouts/slideLayout1.xml" Id="R945ee61d2f4a42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5ee61d2f4a42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1587cf2cb442a" /><Relationship Type="http://schemas.openxmlformats.org/officeDocument/2006/relationships/image" Target="/ppt/media/image.png" Id="Rc8859783c1354ad6" /><Relationship Type="http://schemas.openxmlformats.org/officeDocument/2006/relationships/notesSlide" Target="/ppt/notesSlides/notesSlide1.xml" Id="Rcdfb50a59b2140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1db9ac7094b70" /><Relationship Type="http://schemas.openxmlformats.org/officeDocument/2006/relationships/image" Target="/ppt/media/image.jpeg" Id="R7110e2d874e14838" /><Relationship Type="http://schemas.openxmlformats.org/officeDocument/2006/relationships/notesSlide" Target="/ppt/notesSlides/notesSlide2.xml" Id="R5e46042378eb43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e606e60b544ea" /><Relationship Type="http://schemas.openxmlformats.org/officeDocument/2006/relationships/image" Target="/ppt/media/image2.jpeg" Id="R33649094bea04992" /><Relationship Type="http://schemas.openxmlformats.org/officeDocument/2006/relationships/notesSlide" Target="/ppt/notesSlides/notesSlide3.xml" Id="R70aebe1e91e64e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0196d2916429a" /><Relationship Type="http://schemas.openxmlformats.org/officeDocument/2006/relationships/image" Target="/ppt/media/image3.jpeg" Id="R663a610d05a14590" /><Relationship Type="http://schemas.openxmlformats.org/officeDocument/2006/relationships/notesSlide" Target="/ppt/notesSlides/notesSlide4.xml" Id="R0c025977ce8f44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c945fe2f5469a" /><Relationship Type="http://schemas.openxmlformats.org/officeDocument/2006/relationships/image" Target="/ppt/media/image4.jpeg" Id="R0a371e370240455e" /><Relationship Type="http://schemas.openxmlformats.org/officeDocument/2006/relationships/notesSlide" Target="/ppt/notesSlides/notesSlide5.xml" Id="Ra3193ca571b04c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8c50c590145e5" /><Relationship Type="http://schemas.openxmlformats.org/officeDocument/2006/relationships/notesSlide" Target="/ppt/notesSlides/notesSlide6.xml" Id="R18c7288e71354c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a17f1ba254f9b" /><Relationship Type="http://schemas.openxmlformats.org/officeDocument/2006/relationships/image" Target="/ppt/media/image2.png" Id="R6a7ccffea4454066" /><Relationship Type="http://schemas.openxmlformats.org/officeDocument/2006/relationships/notesSlide" Target="/ppt/notesSlides/notesSlide7.xml" Id="R736f6e791de94e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0a0f6c0b74bc9" /><Relationship Type="http://schemas.openxmlformats.org/officeDocument/2006/relationships/notesSlide" Target="/ppt/notesSlides/notesSlide8.xml" Id="R2af8b4793c19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ca8248d20448f" /><Relationship Type="http://schemas.openxmlformats.org/officeDocument/2006/relationships/notesSlide" Target="/ppt/notesSlides/notesSlide9.xml" Id="R7fe89129825a4d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41d72f16543d5" /><Relationship Type="http://schemas.openxmlformats.org/officeDocument/2006/relationships/notesSlide" Target="/ppt/notesSlides/notesSlide10.xml" Id="Rd0be66090b6744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b0210c6bf4a71" /><Relationship Type="http://schemas.openxmlformats.org/officeDocument/2006/relationships/notesSlide" Target="/ppt/notesSlides/notesSlide11.xml" Id="R6eb1f948c2874c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c50d3963d40e3" /><Relationship Type="http://schemas.openxmlformats.org/officeDocument/2006/relationships/notesSlide" Target="/ppt/notesSlides/notesSlide12.xml" Id="Refc1cde341e740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929e2df864b9f" /><Relationship Type="http://schemas.openxmlformats.org/officeDocument/2006/relationships/notesSlide" Target="/ppt/notesSlides/notesSlide13.xml" Id="Rb5c3a022cd7f44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f44cebd2c4b2f" /><Relationship Type="http://schemas.openxmlformats.org/officeDocument/2006/relationships/notesSlide" Target="/ppt/notesSlides/notesSlide14.xml" Id="R7fb85b9bad3d46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9E1580-E091-4F01-B0D1-C12BCF06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59783c1354ad6"/>
          <a:stretch xmlns:a="http://schemas.openxmlformats.org/drawingml/2006/main"/>
        </p:blipFill>
        <p:spPr>
          <a:xfrm xmlns:a="http://schemas.openxmlformats.org/drawingml/2006/main">
            <a:off x="8934450" y="517558"/>
            <a:ext cx="2362200" cy="831785"/>
          </a:xfrm>
          <a:prstGeom xmlns:a="http://schemas.openxmlformats.org/drawingml/2006/main" prst="rect">
            <a:avLst/>
          </a:prstGeom>
        </p:spPr>
      </p:pic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F30AFD5-4406-4B0D-85A1-C1234192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63C42"/>
                </a:solidFill>
              </a:defRPr>
            </a:pPr>
            <a:r>
              <a:rPr sz="4350" b="1" i="0">
                <a:solidFill>
                  <a:srgbClr val="263C42"/>
                </a:solidFill>
              </a:rPr>
              <a:t>Data Can Deceive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9529CAC-A085-4E28-BB90-4A15E12E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2E6F9E"/>
                </a:solidFill>
              </a:defRPr>
            </a:pPr>
            <a:r>
              <a:rPr sz="2250" b="0" i="0">
                <a:solidFill>
                  <a:srgbClr val="2E6F9E"/>
                </a:solidFill>
              </a:rPr>
              <a:t>Causal Roadmaps with AI</a:t>
            </a:r>
          </a:p>
        </p:txBody>
      </p:sp>
      <p:sp>
        <p:nvSpPr>
          <p:cNvPr id="5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417778E1-9491-4B12-B28D-F08E861D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63C42"/>
                </a:solidFill>
              </a:defRPr>
            </a:pPr>
            <a:r>
              <a:rPr sz="1875" b="1" i="0">
                <a:solidFill>
                  <a:srgbClr val="263C42"/>
                </a:solidFill>
              </a:rPr>
              <a:t>Module A · Welcome + Intro</a:t>
            </a:r>
          </a:p>
        </p:txBody>
      </p:sp>
      <p:sp>
        <p:nvSpPr>
          <p:cNvPr id="6" name="date-time">
            <a:extLst xmlns:a="http://schemas.openxmlformats.org/drawingml/2006/main">
              <a:ext uri="{FF2B5EF4-FFF2-40B4-BE49-F238E27FC236}">
                <a16:creationId xmlns:a16="http://schemas.microsoft.com/office/drawing/2014/main" id="{37CF4E7B-6527-4649-915D-7855897D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B73"/>
                </a:solidFill>
              </a:defRPr>
            </a:pPr>
            <a:r>
              <a:rPr sz="1650" b="0" i="0">
                <a:solidFill>
                  <a:srgbClr val="596B73"/>
                </a:solidFill>
              </a:rPr>
              <a:t>August 5, 2026 · 12:00–12:20 ET</a:t>
            </a:r>
          </a:p>
        </p:txBody>
      </p:sp>
      <p:sp>
        <p:nvSpPr>
          <p:cNvPr id="7" name="welcome-line">
            <a:extLst xmlns:a="http://schemas.openxmlformats.org/drawingml/2006/main">
              <a:ext uri="{FF2B5EF4-FFF2-40B4-BE49-F238E27FC236}">
                <a16:creationId xmlns:a16="http://schemas.microsoft.com/office/drawing/2014/main" id="{F7FBE8B2-D454-46BF-88F7-95FCECA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63C42"/>
                </a:solidFill>
              </a:defRPr>
            </a:pPr>
            <a:r>
              <a:rPr sz="1800" b="0" i="0">
                <a:solidFill>
                  <a:srgbClr val="263C42"/>
                </a:solidFill>
              </a:rPr>
              <a:t>Welcome from Kathryn, Andy, Robert, and Auriane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AF301F-F5EA-43D6-8A35-55CEBF9C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C698B219-45A0-4AD3-A817-D85AA15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A · Welcome + Intro</a:t>
            </a:r>
          </a:p>
        </p:txBody>
      </p:sp>
      <p:sp>
        <p:nvSpPr>
          <p:cNvPr id="10" name="footer-date">
            <a:extLst xmlns:a="http://schemas.openxmlformats.org/drawingml/2006/main">
              <a:ext uri="{FF2B5EF4-FFF2-40B4-BE49-F238E27FC236}">
                <a16:creationId xmlns:a16="http://schemas.microsoft.com/office/drawing/2014/main" id="{C3BE7887-8150-411C-A448-C188D0B3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936395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006C085-81A1-4E84-A2E9-7CAC3E5F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F35E4DBB-0F74-45B6-B323-C7A26922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C35F73-876A-4173-8070-BDF212F2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Kathryn Morrison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868482A9-EB39-4309-8C93-D5D4FC6E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A · 12:00–12:20 ET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0e2d874e148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428750"/>
            <a:ext cx="3219450" cy="3219450"/>
          </a:xfrm>
          <a:prstGeom xmlns:a="http://schemas.openxmlformats.org/drawingml/2006/main" prst="ellipse">
            <a:avLst/>
          </a:prstGeom>
        </p:spPr>
      </p:pic>
      <p:sp>
        <p:nvSpPr>
          <p:cNvPr id="6" name="portrait-accent">
            <a:extLst xmlns:a="http://schemas.openxmlformats.org/drawingml/2006/main">
              <a:ext uri="{FF2B5EF4-FFF2-40B4-BE49-F238E27FC236}">
                <a16:creationId xmlns:a16="http://schemas.microsoft.com/office/drawing/2014/main" id="{AFD77083-DBF8-4EF9-9503-620A0509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edentials">
            <a:extLst xmlns:a="http://schemas.openxmlformats.org/drawingml/2006/main">
              <a:ext uri="{FF2B5EF4-FFF2-40B4-BE49-F238E27FC236}">
                <a16:creationId xmlns:a16="http://schemas.microsoft.com/office/drawing/2014/main" id="{81282E0E-C78C-45E9-9032-67148EA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E6F9E"/>
                </a:solidFill>
              </a:defRPr>
            </a:pPr>
            <a:r>
              <a:rPr sz="2100" b="1" i="0">
                <a:solidFill>
                  <a:srgbClr val="2E6F9E"/>
                </a:solidFill>
              </a:rPr>
              <a:t>PhD · PStat</a:t>
            </a:r>
          </a:p>
        </p:txBody>
      </p:sp>
      <p:sp>
        <p:nvSpPr>
          <p:cNvPr id="8" name="affiliation">
            <a:extLst xmlns:a="http://schemas.openxmlformats.org/drawingml/2006/main">
              <a:ext uri="{FF2B5EF4-FFF2-40B4-BE49-F238E27FC236}">
                <a16:creationId xmlns:a16="http://schemas.microsoft.com/office/drawing/2014/main" id="{E222189E-DAFB-4713-B70E-53F7FB85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764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Co-founder and President, Precision Analytics</a:t>
            </a:r>
          </a:p>
        </p:txBody>
      </p:sp>
      <p:sp>
        <p:nvSpPr>
          <p:cNvPr id="9" name="bio">
            <a:extLst xmlns:a="http://schemas.openxmlformats.org/drawingml/2006/main">
              <a:ext uri="{FF2B5EF4-FFF2-40B4-BE49-F238E27FC236}">
                <a16:creationId xmlns:a16="http://schemas.microsoft.com/office/drawing/2014/main" id="{C1593BB1-7EE8-4BC6-A038-E6AB46F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666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B73"/>
                </a:solidFill>
              </a:defRPr>
            </a:pPr>
            <a:r>
              <a:rPr sz="1650" b="0" i="0">
                <a:solidFill>
                  <a:srgbClr val="596B73"/>
                </a:solidFill>
              </a:rPr>
              <a:t>Accredited statistician with more than twenty peer-reviewed publications. Her consulting spans genomics, clinical research, and statistical technology.</a:t>
            </a:r>
          </a:p>
        </p:txBody>
      </p:sp>
      <p:sp>
        <p:nvSpPr>
          <p:cNvPr id="10" name="workshop-role">
            <a:extLst xmlns:a="http://schemas.openxmlformats.org/drawingml/2006/main">
              <a:ext uri="{FF2B5EF4-FFF2-40B4-BE49-F238E27FC236}">
                <a16:creationId xmlns:a16="http://schemas.microsoft.com/office/drawing/2014/main" id="{F8A16ED9-6FBE-4774-A177-47BB93CE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63C42"/>
                </a:solidFill>
              </a:defRPr>
            </a:pPr>
            <a:r>
              <a:rPr sz="1650" b="0" i="0">
                <a:solidFill>
                  <a:srgbClr val="263C42"/>
                </a:solidFill>
              </a:rPr>
              <a:t>In this workshop: opening context, causal foundations, audit-first AI, and calibration of the conclusions.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5B8CE2B-A8F8-4842-922E-56B020FD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3397BE87-EBF7-43EF-B61B-13DD8329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A · Welcome + Intro</a:t>
            </a:r>
          </a:p>
        </p:txBody>
      </p:sp>
      <p:sp>
        <p:nvSpPr>
          <p:cNvPr id="13" name="footer-date">
            <a:extLst xmlns:a="http://schemas.openxmlformats.org/drawingml/2006/main">
              <a:ext uri="{FF2B5EF4-FFF2-40B4-BE49-F238E27FC236}">
                <a16:creationId xmlns:a16="http://schemas.microsoft.com/office/drawing/2014/main" id="{8BDA2138-EE3E-4B37-822D-382ED562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754409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D04A956-0E8B-4F8C-B661-944794C5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D77C8A66-93DA-42F1-B881-4875E9AF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E6A718-7A63-49AF-B40E-19C5E755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Andy Wilson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2046419B-E264-4A33-B131-8DCE272F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A · 12:00–12:20 ET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49094bea049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428750"/>
            <a:ext cx="3219450" cy="3219450"/>
          </a:xfrm>
          <a:prstGeom xmlns:a="http://schemas.openxmlformats.org/drawingml/2006/main" prst="ellipse">
            <a:avLst/>
          </a:prstGeom>
        </p:spPr>
      </p:pic>
      <p:sp>
        <p:nvSpPr>
          <p:cNvPr id="6" name="portrait-accent">
            <a:extLst xmlns:a="http://schemas.openxmlformats.org/drawingml/2006/main">
              <a:ext uri="{FF2B5EF4-FFF2-40B4-BE49-F238E27FC236}">
                <a16:creationId xmlns:a16="http://schemas.microsoft.com/office/drawing/2014/main" id="{636581BF-664A-4377-8C4A-612F1006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edentials">
            <a:extLst xmlns:a="http://schemas.openxmlformats.org/drawingml/2006/main">
              <a:ext uri="{FF2B5EF4-FFF2-40B4-BE49-F238E27FC236}">
                <a16:creationId xmlns:a16="http://schemas.microsoft.com/office/drawing/2014/main" id="{1EC198AA-9B4F-4D38-8BDE-5DF2CF6D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E6F9E"/>
                </a:solidFill>
              </a:defRPr>
            </a:pPr>
            <a:r>
              <a:rPr sz="2100" b="1" i="0">
                <a:solidFill>
                  <a:srgbClr val="2E6F9E"/>
                </a:solidFill>
              </a:rPr>
              <a:t>PhD · MStat</a:t>
            </a:r>
          </a:p>
        </p:txBody>
      </p:sp>
      <p:sp>
        <p:nvSpPr>
          <p:cNvPr id="8" name="affiliation">
            <a:extLst xmlns:a="http://schemas.openxmlformats.org/drawingml/2006/main">
              <a:ext uri="{FF2B5EF4-FFF2-40B4-BE49-F238E27FC236}">
                <a16:creationId xmlns:a16="http://schemas.microsoft.com/office/drawing/2014/main" id="{5710B26D-0FD8-4CD0-A204-FE3D6B44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764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Adjunct Professor, University of Utah</a:t>
            </a:r>
          </a:p>
        </p:txBody>
      </p:sp>
      <p:sp>
        <p:nvSpPr>
          <p:cNvPr id="9" name="bio">
            <a:extLst xmlns:a="http://schemas.openxmlformats.org/drawingml/2006/main">
              <a:ext uri="{FF2B5EF4-FFF2-40B4-BE49-F238E27FC236}">
                <a16:creationId xmlns:a16="http://schemas.microsoft.com/office/drawing/2014/main" id="{15034BC4-FC0F-45CE-8141-72B2D6BB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666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B73"/>
                </a:solidFill>
              </a:defRPr>
            </a:pPr>
            <a:r>
              <a:rPr sz="1650" b="0" i="0">
                <a:solidFill>
                  <a:srgbClr val="596B73"/>
                </a:solidFill>
              </a:rPr>
              <a:t>Teaches Causal Methods in Public Health and co-develops the open-source Causal Navigator through Tao of RWD.</a:t>
            </a:r>
          </a:p>
        </p:txBody>
      </p:sp>
      <p:sp>
        <p:nvSpPr>
          <p:cNvPr id="10" name="workshop-role">
            <a:extLst xmlns:a="http://schemas.openxmlformats.org/drawingml/2006/main">
              <a:ext uri="{FF2B5EF4-FFF2-40B4-BE49-F238E27FC236}">
                <a16:creationId xmlns:a16="http://schemas.microsoft.com/office/drawing/2014/main" id="{08C491AB-2FAD-496C-9B14-D24C18E8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63C42"/>
                </a:solidFill>
              </a:defRPr>
            </a:pPr>
            <a:r>
              <a:rPr sz="1650" b="0" i="0">
                <a:solidFill>
                  <a:srgbClr val="263C42"/>
                </a:solidFill>
              </a:rPr>
              <a:t>In this workshop: the causal roadmap, live Navigator demonstration, and TMLE walkthrough.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785DC29-90D0-4F09-9C3F-090212EA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BAA07B11-E253-4FCB-81DE-91654392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A · Welcome + Intro</a:t>
            </a:r>
          </a:p>
        </p:txBody>
      </p:sp>
      <p:sp>
        <p:nvSpPr>
          <p:cNvPr id="13" name="footer-date">
            <a:extLst xmlns:a="http://schemas.openxmlformats.org/drawingml/2006/main">
              <a:ext uri="{FF2B5EF4-FFF2-40B4-BE49-F238E27FC236}">
                <a16:creationId xmlns:a16="http://schemas.microsoft.com/office/drawing/2014/main" id="{05B94272-9B8F-4936-889C-981494F4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870304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C9F3E5D4-8ABF-4617-9DA7-8897BF8D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58D40EAC-7779-4D11-B266-E5044E7A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75F1E7-B76C-466E-B98F-E921F6B2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Robert Platt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5ACA3198-91FC-460D-9835-867D97CC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A · 12:00–12:20 ET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a610d05a145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428750"/>
            <a:ext cx="3219450" cy="3219450"/>
          </a:xfrm>
          <a:prstGeom xmlns:a="http://schemas.openxmlformats.org/drawingml/2006/main" prst="ellipse">
            <a:avLst/>
          </a:prstGeom>
        </p:spPr>
      </p:pic>
      <p:sp>
        <p:nvSpPr>
          <p:cNvPr id="6" name="portrait-accent">
            <a:extLst xmlns:a="http://schemas.openxmlformats.org/drawingml/2006/main">
              <a:ext uri="{FF2B5EF4-FFF2-40B4-BE49-F238E27FC236}">
                <a16:creationId xmlns:a16="http://schemas.microsoft.com/office/drawing/2014/main" id="{035A8278-4060-4E60-AFDA-81F7119A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edentials">
            <a:extLst xmlns:a="http://schemas.openxmlformats.org/drawingml/2006/main">
              <a:ext uri="{FF2B5EF4-FFF2-40B4-BE49-F238E27FC236}">
                <a16:creationId xmlns:a16="http://schemas.microsoft.com/office/drawing/2014/main" id="{7008C380-E52E-442E-BBC4-5B30D526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E6F9E"/>
                </a:solidFill>
              </a:defRPr>
            </a:pPr>
            <a:r>
              <a:rPr sz="2100" b="1" i="0">
                <a:solidFill>
                  <a:srgbClr val="2E6F9E"/>
                </a:solidFill>
              </a:rPr>
              <a:t>PhD</a:t>
            </a:r>
          </a:p>
        </p:txBody>
      </p:sp>
      <p:sp>
        <p:nvSpPr>
          <p:cNvPr id="8" name="affiliation">
            <a:extLst xmlns:a="http://schemas.openxmlformats.org/drawingml/2006/main">
              <a:ext uri="{FF2B5EF4-FFF2-40B4-BE49-F238E27FC236}">
                <a16:creationId xmlns:a16="http://schemas.microsoft.com/office/drawing/2014/main" id="{9C55D3C6-F282-4ACC-BF66-50AA5229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764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Professor of Biostatistics, McGill University</a:t>
            </a:r>
          </a:p>
        </p:txBody>
      </p:sp>
      <p:sp>
        <p:nvSpPr>
          <p:cNvPr id="9" name="bio">
            <a:extLst xmlns:a="http://schemas.openxmlformats.org/drawingml/2006/main">
              <a:ext uri="{FF2B5EF4-FFF2-40B4-BE49-F238E27FC236}">
                <a16:creationId xmlns:a16="http://schemas.microsoft.com/office/drawing/2014/main" id="{7D20A122-A7BF-4600-97B0-B6661AAB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666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B73"/>
                </a:solidFill>
              </a:defRPr>
            </a:pPr>
            <a:r>
              <a:rPr sz="1650" b="0" i="0">
                <a:solidFill>
                  <a:srgbClr val="596B73"/>
                </a:solidFill>
              </a:rPr>
              <a:t>Co-lead of the Canadian Network for Observational Drug Effect Studies (CNODES), with a focus on pharmacoepidemiology using claims and EHR data.</a:t>
            </a:r>
          </a:p>
        </p:txBody>
      </p:sp>
      <p:sp>
        <p:nvSpPr>
          <p:cNvPr id="10" name="workshop-role">
            <a:extLst xmlns:a="http://schemas.openxmlformats.org/drawingml/2006/main">
              <a:ext uri="{FF2B5EF4-FFF2-40B4-BE49-F238E27FC236}">
                <a16:creationId xmlns:a16="http://schemas.microsoft.com/office/drawing/2014/main" id="{4CB67239-35E6-40BF-A67A-D994FB6B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63C42"/>
                </a:solidFill>
              </a:defRPr>
            </a:pPr>
            <a:r>
              <a:rPr sz="1650" b="0" i="0">
                <a:solidFill>
                  <a:srgbClr val="263C42"/>
                </a:solidFill>
              </a:rPr>
              <a:t>In this workshop: a concrete example of why the causal roadmap matters.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8A0CBB8-0F76-4DBF-9C5B-6117458E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849E10A5-20E1-4032-A57F-EC515B38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A · Welcome + Intro</a:t>
            </a:r>
          </a:p>
        </p:txBody>
      </p:sp>
      <p:sp>
        <p:nvSpPr>
          <p:cNvPr id="13" name="footer-date">
            <a:extLst xmlns:a="http://schemas.openxmlformats.org/drawingml/2006/main">
              <a:ext uri="{FF2B5EF4-FFF2-40B4-BE49-F238E27FC236}">
                <a16:creationId xmlns:a16="http://schemas.microsoft.com/office/drawing/2014/main" id="{EC0F2F5F-0DAB-4ABA-92DB-B7D668FD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1087697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552027C-20F1-4EC1-AC9A-7ED85F1D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49D5C64F-9394-4FD2-9913-3D50C3BC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1B5E3F-2A60-4F24-BF06-68D6EF72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Auriane Journet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8FE1A5BE-B4EA-4B90-8288-48CB0731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A · 12:00–12:20 ET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71e37024045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428750"/>
            <a:ext cx="3219450" cy="3219450"/>
          </a:xfrm>
          <a:prstGeom xmlns:a="http://schemas.openxmlformats.org/drawingml/2006/main" prst="ellipse">
            <a:avLst/>
          </a:prstGeom>
        </p:spPr>
      </p:pic>
      <p:sp>
        <p:nvSpPr>
          <p:cNvPr id="6" name="portrait-accent">
            <a:extLst xmlns:a="http://schemas.openxmlformats.org/drawingml/2006/main">
              <a:ext uri="{FF2B5EF4-FFF2-40B4-BE49-F238E27FC236}">
                <a16:creationId xmlns:a16="http://schemas.microsoft.com/office/drawing/2014/main" id="{7AF291F4-CD1D-4BDD-B365-DDA3A3AE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edentials">
            <a:extLst xmlns:a="http://schemas.openxmlformats.org/drawingml/2006/main">
              <a:ext uri="{FF2B5EF4-FFF2-40B4-BE49-F238E27FC236}">
                <a16:creationId xmlns:a16="http://schemas.microsoft.com/office/drawing/2014/main" id="{0651E6E8-3C8F-4A5C-BA77-E4CC2DCA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E6F9E"/>
                </a:solidFill>
              </a:defRPr>
            </a:pPr>
            <a:r>
              <a:rPr sz="2100" b="1" i="0">
                <a:solidFill>
                  <a:srgbClr val="2E6F9E"/>
                </a:solidFill>
              </a:rPr>
              <a:t>MScPH student</a:t>
            </a:r>
          </a:p>
        </p:txBody>
      </p:sp>
      <p:sp>
        <p:nvSpPr>
          <p:cNvPr id="8" name="affiliation">
            <a:extLst xmlns:a="http://schemas.openxmlformats.org/drawingml/2006/main">
              <a:ext uri="{FF2B5EF4-FFF2-40B4-BE49-F238E27FC236}">
                <a16:creationId xmlns:a16="http://schemas.microsoft.com/office/drawing/2014/main" id="{100BB78B-722E-4B7D-8787-CDE08F32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764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McGill University · President, UAEM McGill</a:t>
            </a:r>
          </a:p>
        </p:txBody>
      </p:sp>
      <p:sp>
        <p:nvSpPr>
          <p:cNvPr id="9" name="bio">
            <a:extLst xmlns:a="http://schemas.openxmlformats.org/drawingml/2006/main">
              <a:ext uri="{FF2B5EF4-FFF2-40B4-BE49-F238E27FC236}">
                <a16:creationId xmlns:a16="http://schemas.microsoft.com/office/drawing/2014/main" id="{366A04F8-D41C-43B3-8C6C-CCA54753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666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B73"/>
                </a:solidFill>
              </a:defRPr>
            </a:pPr>
            <a:r>
              <a:rPr sz="1650" b="0" i="0">
                <a:solidFill>
                  <a:srgbClr val="596B73"/>
                </a:solidFill>
              </a:rPr>
              <a:t>Auriane supports the workshop's live delivery.</a:t>
            </a:r>
          </a:p>
        </p:txBody>
      </p:sp>
      <p:sp>
        <p:nvSpPr>
          <p:cNvPr id="10" name="workshop-role">
            <a:extLst xmlns:a="http://schemas.openxmlformats.org/drawingml/2006/main">
              <a:ext uri="{FF2B5EF4-FFF2-40B4-BE49-F238E27FC236}">
                <a16:creationId xmlns:a16="http://schemas.microsoft.com/office/drawing/2014/main" id="{4A078D0D-EE10-42E2-AE9B-62A385B3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63C42"/>
                </a:solidFill>
              </a:defRPr>
            </a:pPr>
            <a:r>
              <a:rPr sz="1650" b="0" i="0">
                <a:solidFill>
                  <a:srgbClr val="263C42"/>
                </a:solidFill>
              </a:rPr>
              <a:t>In this workshop: screen share and production support, including the live Navigator session.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690A1A7-E973-4F8C-8324-3400B6CE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504A6CD3-BC61-4631-8BC2-FA262F02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A · Welcome + Intro</a:t>
            </a:r>
          </a:p>
        </p:txBody>
      </p:sp>
      <p:sp>
        <p:nvSpPr>
          <p:cNvPr id="13" name="footer-date">
            <a:extLst xmlns:a="http://schemas.openxmlformats.org/drawingml/2006/main">
              <a:ext uri="{FF2B5EF4-FFF2-40B4-BE49-F238E27FC236}">
                <a16:creationId xmlns:a16="http://schemas.microsoft.com/office/drawing/2014/main" id="{3106B456-BA44-418E-BDBD-A4647B7C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171194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4C2F111-2411-44E9-B17E-0F8D0947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47303642-8D72-4D9E-9A66-3956D2E7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4880F-EB95-45A5-B19C-DED002B8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Before we begin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DC846414-3D70-4F99-8496-6466D5F9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A · 12:00–12:20 ET</a:t>
            </a:r>
          </a:p>
        </p:txBody>
      </p:sp>
      <p:sp>
        <p:nvSpPr>
          <p:cNvPr id="5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A733851C-5C2F-4A06-98F8-91329E01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E6F9E"/>
                </a:solidFill>
              </a:defRPr>
            </a:pPr>
            <a:r>
              <a:rPr sz="1800" b="1" i="0">
                <a:solidFill>
                  <a:srgbClr val="2E6F9E"/>
                </a:solidFill>
              </a:rPr>
              <a:t>Chat prompt</a:t>
            </a:r>
          </a:p>
        </p:txBody>
      </p:sp>
      <p:sp>
        <p:nvSpPr>
          <p:cNvPr id="6" name="chat-prompt">
            <a:extLst xmlns:a="http://schemas.openxmlformats.org/drawingml/2006/main">
              <a:ext uri="{FF2B5EF4-FFF2-40B4-BE49-F238E27FC236}">
                <a16:creationId xmlns:a16="http://schemas.microsoft.com/office/drawing/2014/main" id="{FFB4D3BA-09F9-47F6-A334-73DB164A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9334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0" i="1">
                <a:solidFill>
                  <a:srgbClr val="263C42"/>
                </a:solidFill>
              </a:defRPr>
            </a:pPr>
            <a:r>
              <a:rPr sz="3150" b="0" i="1">
                <a:solidFill>
                  <a:srgbClr val="263C42"/>
                </a:solidFill>
              </a:rPr>
              <a:t>Which step in your current study</a:t>
            </a:r>
          </a:p>
          <a:p xmlns:a="http://schemas.openxmlformats.org/drawingml/2006/main">
            <a:pPr algn="ctr">
              <a:defRPr sz="3150" b="0" i="1">
                <a:solidFill>
                  <a:srgbClr val="263C42"/>
                </a:solidFill>
              </a:defRPr>
            </a:pPr>
            <a:r>
              <a:rPr sz="3150" b="0" i="1">
                <a:solidFill>
                  <a:srgbClr val="263C42"/>
                </a:solidFill>
              </a:rPr>
              <a:t>feels least defensible?</a:t>
            </a:r>
          </a:p>
        </p:txBody>
      </p:sp>
      <p:sp>
        <p:nvSpPr>
          <p:cNvPr id="7" name="prompt-instruction">
            <a:extLst xmlns:a="http://schemas.openxmlformats.org/drawingml/2006/main">
              <a:ext uri="{FF2B5EF4-FFF2-40B4-BE49-F238E27FC236}">
                <a16:creationId xmlns:a16="http://schemas.microsoft.com/office/drawing/2014/main" id="{B4CDAEA1-8B12-4F70-B039-E35C01DF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291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96B73"/>
                </a:solidFill>
              </a:defRPr>
            </a:pPr>
            <a:r>
              <a:rPr sz="1650" b="0" i="0">
                <a:solidFill>
                  <a:srgbClr val="596B73"/>
                </a:solidFill>
              </a:rPr>
              <a:t>Add one step or decision in the chat.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65E672-3A35-4128-9C52-10CFAAB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98FEB163-7D3D-49ED-8C46-12C7ABB1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A · Welcome + Intro</a:t>
            </a:r>
          </a:p>
        </p:txBody>
      </p:sp>
      <p:sp>
        <p:nvSpPr>
          <p:cNvPr id="10" name="footer-date">
            <a:extLst xmlns:a="http://schemas.openxmlformats.org/drawingml/2006/main">
              <a:ext uri="{FF2B5EF4-FFF2-40B4-BE49-F238E27FC236}">
                <a16:creationId xmlns:a16="http://schemas.microsoft.com/office/drawing/2014/main" id="{6EC0D9C8-F3F2-43C3-9161-657775C9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224643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ccffea445406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journey-title-field">
            <a:extLst xmlns:a="http://schemas.openxmlformats.org/drawingml/2006/main">
              <a:ext uri="{FF2B5EF4-FFF2-40B4-BE49-F238E27FC236}">
                <a16:creationId xmlns:a16="http://schemas.microsoft.com/office/drawing/2014/main" id="{B07BF4E9-FE99-4F4F-A0D3-24F0EEB1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journey-title">
            <a:extLst xmlns:a="http://schemas.openxmlformats.org/drawingml/2006/main">
              <a:ext uri="{FF2B5EF4-FFF2-40B4-BE49-F238E27FC236}">
                <a16:creationId xmlns:a16="http://schemas.microsoft.com/office/drawing/2014/main" id="{4762F7BF-FE68-455A-B546-E09D8FD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63C42"/>
                </a:solidFill>
              </a:defRPr>
            </a:pPr>
            <a:r>
              <a:rPr sz="2625" b="1" i="0">
                <a:solidFill>
                  <a:srgbClr val="263C42"/>
                </a:solidFill>
              </a:rPr>
              <a:t>Workshop journey · 12:00–5:00 ET</a:t>
            </a:r>
          </a:p>
        </p:txBody>
      </p:sp>
      <p:sp>
        <p:nvSpPr>
          <p:cNvPr id="4" name="journey-legend">
            <a:extLst xmlns:a="http://schemas.openxmlformats.org/drawingml/2006/main">
              <a:ext uri="{FF2B5EF4-FFF2-40B4-BE49-F238E27FC236}">
                <a16:creationId xmlns:a16="http://schemas.microsoft.com/office/drawing/2014/main" id="{B5DFC4AF-BD01-4E21-8B2D-CF8CF0E3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5722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B73"/>
                </a:solidFill>
              </a:defRPr>
            </a:pPr>
            <a:r>
              <a:rPr sz="1275" b="0" i="0">
                <a:solidFill>
                  <a:srgbClr val="596B73"/>
                </a:solidFill>
              </a:rPr>
              <a:t>A Welcome   B Robert   C Foundations   D Roadmap   E AI audit   F Navigator   G TMLE   H Close</a:t>
            </a:r>
          </a:p>
        </p:txBody>
      </p:sp>
      <p:sp>
        <p:nvSpPr>
          <p:cNvPr id="5" name="river-marker-A">
            <a:extLst xmlns:a="http://schemas.openxmlformats.org/drawingml/2006/main">
              <a:ext uri="{FF2B5EF4-FFF2-40B4-BE49-F238E27FC236}">
                <a16:creationId xmlns:a16="http://schemas.microsoft.com/office/drawing/2014/main" id="{6A4AF8F9-EDE8-472C-894D-F63E3098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38775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A</a:t>
            </a:r>
          </a:p>
        </p:txBody>
      </p:sp>
      <p:sp>
        <p:nvSpPr>
          <p:cNvPr id="6" name="river-marker-B">
            <a:extLst xmlns:a="http://schemas.openxmlformats.org/drawingml/2006/main">
              <a:ext uri="{FF2B5EF4-FFF2-40B4-BE49-F238E27FC236}">
                <a16:creationId xmlns:a16="http://schemas.microsoft.com/office/drawing/2014/main" id="{F6AE5C53-4D25-4967-BEA3-5C1D1B15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67225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B</a:t>
            </a:r>
          </a:p>
        </p:txBody>
      </p:sp>
      <p:sp>
        <p:nvSpPr>
          <p:cNvPr id="7" name="river-marker-C">
            <a:extLst xmlns:a="http://schemas.openxmlformats.org/drawingml/2006/main">
              <a:ext uri="{FF2B5EF4-FFF2-40B4-BE49-F238E27FC236}">
                <a16:creationId xmlns:a16="http://schemas.microsoft.com/office/drawing/2014/main" id="{CF0CB937-ADE7-4F43-A9DC-2F76C066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81600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C</a:t>
            </a:r>
          </a:p>
        </p:txBody>
      </p:sp>
      <p:sp>
        <p:nvSpPr>
          <p:cNvPr id="8" name="river-marker-D">
            <a:extLst xmlns:a="http://schemas.openxmlformats.org/drawingml/2006/main">
              <a:ext uri="{FF2B5EF4-FFF2-40B4-BE49-F238E27FC236}">
                <a16:creationId xmlns:a16="http://schemas.microsoft.com/office/drawing/2014/main" id="{D30A95BB-56E3-4831-95B2-1ABD0590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495675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D</a:t>
            </a:r>
          </a:p>
        </p:txBody>
      </p:sp>
      <p:sp>
        <p:nvSpPr>
          <p:cNvPr id="9" name="river-marker-E">
            <a:extLst xmlns:a="http://schemas.openxmlformats.org/drawingml/2006/main">
              <a:ext uri="{FF2B5EF4-FFF2-40B4-BE49-F238E27FC236}">
                <a16:creationId xmlns:a16="http://schemas.microsoft.com/office/drawing/2014/main" id="{D026B1FA-4808-4F5E-9BEA-AD601126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429125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E</a:t>
            </a:r>
          </a:p>
        </p:txBody>
      </p:sp>
      <p:sp>
        <p:nvSpPr>
          <p:cNvPr id="10" name="river-marker-F">
            <a:extLst xmlns:a="http://schemas.openxmlformats.org/drawingml/2006/main">
              <a:ext uri="{FF2B5EF4-FFF2-40B4-BE49-F238E27FC236}">
                <a16:creationId xmlns:a16="http://schemas.microsoft.com/office/drawing/2014/main" id="{1C27DF07-8C58-42DF-A9A8-0E12A19D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33725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F</a:t>
            </a:r>
          </a:p>
        </p:txBody>
      </p:sp>
      <p:sp>
        <p:nvSpPr>
          <p:cNvPr id="11" name="river-marker-G">
            <a:extLst xmlns:a="http://schemas.openxmlformats.org/drawingml/2006/main">
              <a:ext uri="{FF2B5EF4-FFF2-40B4-BE49-F238E27FC236}">
                <a16:creationId xmlns:a16="http://schemas.microsoft.com/office/drawing/2014/main" id="{97D0ECE8-E46B-4A7D-963C-09CEA06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19350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G</a:t>
            </a:r>
          </a:p>
        </p:txBody>
      </p:sp>
      <p:sp>
        <p:nvSpPr>
          <p:cNvPr id="12" name="river-marker-H">
            <a:extLst xmlns:a="http://schemas.openxmlformats.org/drawingml/2006/main">
              <a:ext uri="{FF2B5EF4-FFF2-40B4-BE49-F238E27FC236}">
                <a16:creationId xmlns:a16="http://schemas.microsoft.com/office/drawing/2014/main" id="{E19B0726-828D-4C34-9C31-D3DB3E8B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63C42"/>
                </a:solidFill>
              </a:defRPr>
            </a:pPr>
            <a:r>
              <a:rPr sz="2100" b="1" i="0">
                <a:solidFill>
                  <a:srgbClr val="263C42"/>
                </a:solidFill>
              </a:rPr>
              <a:t>H</a:t>
            </a:r>
          </a:p>
        </p:txBody>
      </p:sp>
      <p:sp>
        <p:nvSpPr>
          <p:cNvPr id="13" name="break-one-backing">
            <a:extLst xmlns:a="http://schemas.openxmlformats.org/drawingml/2006/main">
              <a:ext uri="{FF2B5EF4-FFF2-40B4-BE49-F238E27FC236}">
                <a16:creationId xmlns:a16="http://schemas.microsoft.com/office/drawing/2014/main" id="{A0869B3F-9A04-4425-AC56-EB43DAD0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43575"/>
            <a:ext cx="20383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eak-one">
            <a:extLst xmlns:a="http://schemas.openxmlformats.org/drawingml/2006/main">
              <a:ext uri="{FF2B5EF4-FFF2-40B4-BE49-F238E27FC236}">
                <a16:creationId xmlns:a16="http://schemas.microsoft.com/office/drawing/2014/main" id="{81D6C391-6BDE-4E45-8686-43CE4127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263C42"/>
                </a:solidFill>
              </a:defRPr>
            </a:pPr>
            <a:r>
              <a:rPr sz="1200" b="0" i="1">
                <a:solidFill>
                  <a:srgbClr val="263C42"/>
                </a:solidFill>
              </a:rPr>
              <a:t>Break · 1:25–1:35</a:t>
            </a:r>
          </a:p>
        </p:txBody>
      </p:sp>
      <p:sp>
        <p:nvSpPr>
          <p:cNvPr id="15" name="lunch-backing">
            <a:extLst xmlns:a="http://schemas.openxmlformats.org/drawingml/2006/main">
              <a:ext uri="{FF2B5EF4-FFF2-40B4-BE49-F238E27FC236}">
                <a16:creationId xmlns:a16="http://schemas.microsoft.com/office/drawing/2014/main" id="{78382880-0C0F-42F6-A30B-7D024C9A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21145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unch">
            <a:extLst xmlns:a="http://schemas.openxmlformats.org/drawingml/2006/main">
              <a:ext uri="{FF2B5EF4-FFF2-40B4-BE49-F238E27FC236}">
                <a16:creationId xmlns:a16="http://schemas.microsoft.com/office/drawing/2014/main" id="{AEE51C94-6DF8-4D4B-973B-7841CBAA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29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263C42"/>
                </a:solidFill>
              </a:defRPr>
            </a:pPr>
            <a:r>
              <a:rPr sz="1200" b="0" i="1">
                <a:solidFill>
                  <a:srgbClr val="263C42"/>
                </a:solidFill>
              </a:rPr>
              <a:t>Lunch · 2:45–3:15</a:t>
            </a:r>
          </a:p>
        </p:txBody>
      </p:sp>
      <p:sp>
        <p:nvSpPr>
          <p:cNvPr id="17" name="break-two-backing">
            <a:extLst xmlns:a="http://schemas.openxmlformats.org/drawingml/2006/main">
              <a:ext uri="{FF2B5EF4-FFF2-40B4-BE49-F238E27FC236}">
                <a16:creationId xmlns:a16="http://schemas.microsoft.com/office/drawing/2014/main" id="{D972A0E6-57F2-4540-8A16-1A865CD0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14750"/>
            <a:ext cx="21145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reak-two">
            <a:extLst xmlns:a="http://schemas.openxmlformats.org/drawingml/2006/main">
              <a:ext uri="{FF2B5EF4-FFF2-40B4-BE49-F238E27FC236}">
                <a16:creationId xmlns:a16="http://schemas.microsoft.com/office/drawing/2014/main" id="{B792ECC9-CF67-4145-A52A-EAA0549F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433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263C42"/>
                </a:solidFill>
              </a:defRPr>
            </a:pPr>
            <a:r>
              <a:rPr sz="1200" b="0" i="1">
                <a:solidFill>
                  <a:srgbClr val="263C42"/>
                </a:solidFill>
              </a:rPr>
              <a:t>Break · 4:10–4:20</a:t>
            </a:r>
          </a:p>
        </p:txBody>
      </p:sp>
    </p:spTree>
    <p:extLst>
      <p:ext uri="{BB962C8B-B14F-4D97-AF65-F5344CB8AC3E}">
        <p14:creationId xmlns:p14="http://schemas.microsoft.com/office/powerpoint/2010/main" val="1112788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5761DEB-D7DB-4FA6-B6AE-0A6692A7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05323815-DE45-4899-8E93-F50791BA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23BF15-7BD3-4CF8-8B65-0D019378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Example with Robert Platt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13D58B83-C553-4AA6-A645-E877CCF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B · 12:20–12:45 ET</a:t>
            </a:r>
          </a:p>
        </p:txBody>
      </p:sp>
      <p:sp>
        <p:nvSpPr>
          <p:cNvPr id="5" name="module-letter">
            <a:extLst xmlns:a="http://schemas.openxmlformats.org/drawingml/2006/main">
              <a:ext uri="{FF2B5EF4-FFF2-40B4-BE49-F238E27FC236}">
                <a16:creationId xmlns:a16="http://schemas.microsoft.com/office/drawing/2014/main" id="{E34705C4-75D2-402D-BD5C-84ACBC89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EAF4FF"/>
                </a:solidFill>
              </a:defRPr>
            </a:pPr>
            <a:r>
              <a:rPr sz="8400" b="1" i="0">
                <a:solidFill>
                  <a:srgbClr val="EAF4FF"/>
                </a:solidFill>
              </a:rPr>
              <a:t>B</a:t>
            </a:r>
          </a:p>
        </p:txBody>
      </p:sp>
      <p:sp>
        <p:nvSpPr>
          <p:cNvPr id="6" name="module-rule">
            <a:extLst xmlns:a="http://schemas.openxmlformats.org/drawingml/2006/main">
              <a:ext uri="{FF2B5EF4-FFF2-40B4-BE49-F238E27FC236}">
                <a16:creationId xmlns:a16="http://schemas.microsoft.com/office/drawing/2014/main" id="{4B7B4684-A6B8-43A0-9A9A-ECDCBDA7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00150"/>
            <a:ext cx="381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6B4B6B90-1D40-4B66-81C1-B5F6AFF8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0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70D6E55-B600-48BA-A138-18B7F70B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381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The research question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38E492A9-8262-46F0-9881-3451ABC6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6C91A8F-BEDC-4A55-96AD-548D26B1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33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What looked persuasive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4382E266-EFEB-4A08-B879-8755E9E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DD37794B-9916-48FA-9E1E-D96447A2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86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What went wrong — and the consequence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DA917C6F-A80D-4C64-A2F7-18C2DF87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1221F350-30CB-44E1-8032-6A82E7B3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Where the failure sits in the eight-step Navigator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E5DE03B-DC92-4CD6-B2E9-94469BDE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C4813FC0-8B43-45A3-8E62-29F011D5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B · Example with Robert Platt</a:t>
            </a:r>
          </a:p>
        </p:txBody>
      </p:sp>
      <p:sp>
        <p:nvSpPr>
          <p:cNvPr id="17" name="footer-date">
            <a:extLst xmlns:a="http://schemas.openxmlformats.org/drawingml/2006/main">
              <a:ext uri="{FF2B5EF4-FFF2-40B4-BE49-F238E27FC236}">
                <a16:creationId xmlns:a16="http://schemas.microsoft.com/office/drawing/2014/main" id="{DA73F0E6-FDD4-477B-93B9-6FCA3BD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132120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6AA7EAA-F0C2-4F9F-BFDB-E896466B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C2C01F3A-19AB-49CD-80A3-A23C535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A8EA92-BEC6-4B14-8F31-0620500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Foundations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54D5B417-4848-463B-9410-2902AA07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C · 12:45–1:25 ET</a:t>
            </a:r>
          </a:p>
        </p:txBody>
      </p:sp>
      <p:sp>
        <p:nvSpPr>
          <p:cNvPr id="5" name="module-letter">
            <a:extLst xmlns:a="http://schemas.openxmlformats.org/drawingml/2006/main">
              <a:ext uri="{FF2B5EF4-FFF2-40B4-BE49-F238E27FC236}">
                <a16:creationId xmlns:a16="http://schemas.microsoft.com/office/drawing/2014/main" id="{5065C928-9CEB-4067-AFC2-7CC9DD72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EAF4FF"/>
                </a:solidFill>
              </a:defRPr>
            </a:pPr>
            <a:r>
              <a:rPr sz="8400" b="1" i="0">
                <a:solidFill>
                  <a:srgbClr val="EAF4FF"/>
                </a:solidFill>
              </a:rPr>
              <a:t>C</a:t>
            </a:r>
          </a:p>
        </p:txBody>
      </p:sp>
      <p:sp>
        <p:nvSpPr>
          <p:cNvPr id="6" name="module-rule">
            <a:extLst xmlns:a="http://schemas.openxmlformats.org/drawingml/2006/main">
              <a:ext uri="{FF2B5EF4-FFF2-40B4-BE49-F238E27FC236}">
                <a16:creationId xmlns:a16="http://schemas.microsoft.com/office/drawing/2014/main" id="{A0D18BE0-5432-439A-916B-831BBB4D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00150"/>
            <a:ext cx="381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76F38009-FCEC-4F95-A1BF-3AA4BA40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0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1313634-94AC-48F6-A191-B7EB2180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381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63C42"/>
                </a:solidFill>
              </a:defRPr>
            </a:pPr>
            <a:r>
              <a:rPr sz="1800" b="0" i="0">
                <a:solidFill>
                  <a:srgbClr val="263C42"/>
                </a:solidFill>
              </a:rPr>
              <a:t>Association versus intervention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87786743-31F2-4941-A21B-9ABA5C17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42BB8277-75E1-49DA-A65E-1B4EC9F1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33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63C42"/>
                </a:solidFill>
              </a:defRPr>
            </a:pPr>
            <a:r>
              <a:rPr sz="1800" b="0" i="0">
                <a:solidFill>
                  <a:srgbClr val="263C42"/>
                </a:solidFill>
              </a:rPr>
              <a:t>Counterfactual contrasts; confounders, mediators, and colliders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4B394E5E-602E-404A-8D39-88F73FC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DB3C390A-0E0E-45DE-B15B-B9B2E18F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86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63C42"/>
                </a:solidFill>
              </a:defRPr>
            </a:pPr>
            <a:r>
              <a:rPr sz="1800" b="0" i="0">
                <a:solidFill>
                  <a:srgbClr val="263C42"/>
                </a:solidFill>
              </a:rPr>
              <a:t>Target-trial protocol and time-zero alignment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F114E575-32FE-4ADB-991D-008CE475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6B69015C-07B2-4ECC-8D65-D15411C4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63C42"/>
                </a:solidFill>
              </a:defRPr>
            </a:pPr>
            <a:r>
              <a:rPr sz="1800" b="0" i="0">
                <a:solidFill>
                  <a:srgbClr val="263C42"/>
                </a:solidFill>
              </a:rPr>
              <a:t>Pneumonia-vaccine example and its crude paradox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F5AFBF3-1C4E-4D4A-A70B-80322B4D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C9E2964B-0A40-49CC-92FD-04E856C1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C · Foundations</a:t>
            </a:r>
          </a:p>
        </p:txBody>
      </p:sp>
      <p:sp>
        <p:nvSpPr>
          <p:cNvPr id="17" name="footer-date">
            <a:extLst xmlns:a="http://schemas.openxmlformats.org/drawingml/2006/main">
              <a:ext uri="{FF2B5EF4-FFF2-40B4-BE49-F238E27FC236}">
                <a16:creationId xmlns:a16="http://schemas.microsoft.com/office/drawing/2014/main" id="{A0A1981E-601D-48AF-8830-6F0B9C5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20203715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9CAA787-6C3D-49FC-B8DD-0DA172F6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7E86382F-FE52-4B71-BEBE-163BE53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94971F-09CE-4977-AEA4-010EC1EA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The Roadmap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17B6DD1C-40EC-44DA-9CE0-5555AA4A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D · 1:35–2:20 ET</a:t>
            </a:r>
          </a:p>
        </p:txBody>
      </p:sp>
      <p:sp>
        <p:nvSpPr>
          <p:cNvPr id="5" name="module-letter">
            <a:extLst xmlns:a="http://schemas.openxmlformats.org/drawingml/2006/main">
              <a:ext uri="{FF2B5EF4-FFF2-40B4-BE49-F238E27FC236}">
                <a16:creationId xmlns:a16="http://schemas.microsoft.com/office/drawing/2014/main" id="{599B3E85-8C93-4EFE-AC03-DFA08F5D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EAF4FF"/>
                </a:solidFill>
              </a:defRPr>
            </a:pPr>
            <a:r>
              <a:rPr sz="8400" b="1" i="0">
                <a:solidFill>
                  <a:srgbClr val="EAF4FF"/>
                </a:solidFill>
              </a:rPr>
              <a:t>D</a:t>
            </a:r>
          </a:p>
        </p:txBody>
      </p:sp>
      <p:sp>
        <p:nvSpPr>
          <p:cNvPr id="6" name="module-rule">
            <a:extLst xmlns:a="http://schemas.openxmlformats.org/drawingml/2006/main">
              <a:ext uri="{FF2B5EF4-FFF2-40B4-BE49-F238E27FC236}">
                <a16:creationId xmlns:a16="http://schemas.microsoft.com/office/drawing/2014/main" id="{0A9480D1-D102-469D-A28B-9E89356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00150"/>
            <a:ext cx="381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5180DD72-A069-471B-B4F9-9FC2825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0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9C91DF8-3224-4E93-8945-6FE05001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381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Protocol: population, strategies, time zero, follow-up, outcome, contrast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5E89707C-C8A8-4616-9190-60A844A1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B12FD4D-79C8-42A2-A7FB-5E60C00F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33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DAG: measured and unmeasured common causes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F2D2C3C4-7661-44EF-9886-4A9377C9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52658F3-F332-48EF-85CE-4AA335EF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86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Observed-data mapping and identification assumptions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919DF9C4-257C-4D23-BE77-4C90AD7A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D1A7475F-973B-4F55-97B6-2EC5C3EE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Estimand, estimator, sensitivity plan, and interpretation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E3B2FA3-23D5-449C-9AA4-17065DFD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C35927D9-0279-40CB-ACA6-9245E11A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D · The Roadmap</a:t>
            </a:r>
          </a:p>
        </p:txBody>
      </p:sp>
      <p:sp>
        <p:nvSpPr>
          <p:cNvPr id="17" name="footer-date">
            <a:extLst xmlns:a="http://schemas.openxmlformats.org/drawingml/2006/main">
              <a:ext uri="{FF2B5EF4-FFF2-40B4-BE49-F238E27FC236}">
                <a16:creationId xmlns:a16="http://schemas.microsoft.com/office/drawing/2014/main" id="{73B3BFE1-C4C3-45B4-84C4-FAB8F5AB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914420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CA096EE-6265-4C80-B664-696F97CF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D2E9EB05-C5F2-4C49-9726-04C2A288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105405-E716-455B-860C-C11A1623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Audit-First AI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A4DAA170-EFB5-461F-9CAD-A853F988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E · 2:20–2:45 ET</a:t>
            </a:r>
          </a:p>
        </p:txBody>
      </p:sp>
      <p:sp>
        <p:nvSpPr>
          <p:cNvPr id="5" name="module-letter">
            <a:extLst xmlns:a="http://schemas.openxmlformats.org/drawingml/2006/main">
              <a:ext uri="{FF2B5EF4-FFF2-40B4-BE49-F238E27FC236}">
                <a16:creationId xmlns:a16="http://schemas.microsoft.com/office/drawing/2014/main" id="{AF80BDF5-034C-4DE1-801C-FD2B754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EAF4FF"/>
                </a:solidFill>
              </a:defRPr>
            </a:pPr>
            <a:r>
              <a:rPr sz="8400" b="1" i="0">
                <a:solidFill>
                  <a:srgbClr val="EAF4FF"/>
                </a:solidFill>
              </a:rPr>
              <a:t>E</a:t>
            </a:r>
          </a:p>
        </p:txBody>
      </p:sp>
      <p:sp>
        <p:nvSpPr>
          <p:cNvPr id="6" name="module-rule">
            <a:extLst xmlns:a="http://schemas.openxmlformats.org/drawingml/2006/main">
              <a:ext uri="{FF2B5EF4-FFF2-40B4-BE49-F238E27FC236}">
                <a16:creationId xmlns:a16="http://schemas.microsoft.com/office/drawing/2014/main" id="{5A7E46D5-3558-4247-967E-39715892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00150"/>
            <a:ext cx="381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5EFCDA9B-93FD-4D22-9A5E-99434982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0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D6A1D20-32A6-4C65-A31E-7B5FCE6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381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Review an AI-generated roadmap field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AAAEDCD8-AAA8-4118-8D59-9230649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D9D4552-6D8F-48C3-BEE2-7FE0487A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33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Accept, correct, or reject it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DC0CCD26-6D56-4390-AC74-A8808942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A4FFDAE-F12F-49F7-9128-82D67219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86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Name the evidence required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92239DC8-FAD8-48B1-A74C-F14F7CC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78F09A1C-9B31-42FA-84C3-4ED75FAB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Record the decision in the audit log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726EDF6-DC30-42B1-B12B-5F393A6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3428C08C-8F14-400C-AF01-F3902275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E · Audit-First AI</a:t>
            </a:r>
          </a:p>
        </p:txBody>
      </p:sp>
      <p:sp>
        <p:nvSpPr>
          <p:cNvPr id="17" name="footer-date">
            <a:extLst xmlns:a="http://schemas.openxmlformats.org/drawingml/2006/main">
              <a:ext uri="{FF2B5EF4-FFF2-40B4-BE49-F238E27FC236}">
                <a16:creationId xmlns:a16="http://schemas.microsoft.com/office/drawing/2014/main" id="{88974F7C-53CE-480B-8EE4-052569BA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20416021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D68B412-4ABF-4E8A-BC29-5E16CBA7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B47F67FC-3084-426F-BC43-0E8280A0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615A39-38CD-4C72-A536-AE7BFEF7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Live Navigator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6DE8CF92-77AB-4698-9759-FFDCBCB5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F · 3:15–4:10 ET</a:t>
            </a:r>
          </a:p>
        </p:txBody>
      </p:sp>
      <p:sp>
        <p:nvSpPr>
          <p:cNvPr id="5" name="module-letter">
            <a:extLst xmlns:a="http://schemas.openxmlformats.org/drawingml/2006/main">
              <a:ext uri="{FF2B5EF4-FFF2-40B4-BE49-F238E27FC236}">
                <a16:creationId xmlns:a16="http://schemas.microsoft.com/office/drawing/2014/main" id="{79DD845B-D3BE-4701-8D14-5872D805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EAF4FF"/>
                </a:solidFill>
              </a:defRPr>
            </a:pPr>
            <a:r>
              <a:rPr sz="8400" b="1" i="0">
                <a:solidFill>
                  <a:srgbClr val="EAF4FF"/>
                </a:solidFill>
              </a:rPr>
              <a:t>F</a:t>
            </a:r>
          </a:p>
        </p:txBody>
      </p:sp>
      <p:sp>
        <p:nvSpPr>
          <p:cNvPr id="6" name="module-rule">
            <a:extLst xmlns:a="http://schemas.openxmlformats.org/drawingml/2006/main">
              <a:ext uri="{FF2B5EF4-FFF2-40B4-BE49-F238E27FC236}">
                <a16:creationId xmlns:a16="http://schemas.microsoft.com/office/drawing/2014/main" id="{065AE41B-0185-4D18-A64B-6F8FF18D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00150"/>
            <a:ext cx="381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85D60DF5-BC85-404A-A4D2-30F6FEA4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0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330AFEFA-7FD7-40B5-B1EC-64E236A0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381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Start from Quick Start using the no-login manual route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A537C489-98AA-493F-B99F-F2B76BA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55F87D2-C7C2-4BC6-9B45-75A10DF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33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Complete eight steps from prepared entries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9DF82B3C-F2AC-4781-877A-57F5F17B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141CEA45-DECA-4084-8BA1-BA9E8CC5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86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Use AI Copilot once, if the presenter account is ready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7AA47392-E25B-4F0B-9E0D-C6FF34DC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AFF4D06D-AF21-441E-AE10-C2614124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Export the study summary</a:t>
            </a:r>
          </a:p>
        </p:txBody>
      </p:sp>
      <p:sp>
        <p:nvSpPr>
          <p:cNvPr id="15" name="navigator-pauses">
            <a:extLst xmlns:a="http://schemas.openxmlformats.org/drawingml/2006/main">
              <a:ext uri="{FF2B5EF4-FFF2-40B4-BE49-F238E27FC236}">
                <a16:creationId xmlns:a16="http://schemas.microsoft.com/office/drawing/2014/main" id="{229619A9-8AC6-4EE0-BFE7-9AE8509D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871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6F9E"/>
                </a:solidFill>
              </a:defRPr>
            </a:pPr>
            <a:r>
              <a:rPr sz="1350" b="1" i="0">
                <a:solidFill>
                  <a:srgbClr val="2E6F9E"/>
                </a:solidFill>
              </a:rPr>
              <a:t>Discussion pauses: treatment strategy · unmeasured confounding · interpretation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D1405B-D5C3-43FD-9857-17690B34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A52BD4C1-B16F-43F1-98D1-A4A103DF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F · Live Navigator</a:t>
            </a:r>
          </a:p>
        </p:txBody>
      </p:sp>
      <p:sp>
        <p:nvSpPr>
          <p:cNvPr id="18" name="footer-date">
            <a:extLst xmlns:a="http://schemas.openxmlformats.org/drawingml/2006/main">
              <a:ext uri="{FF2B5EF4-FFF2-40B4-BE49-F238E27FC236}">
                <a16:creationId xmlns:a16="http://schemas.microsoft.com/office/drawing/2014/main" id="{6C9B56F5-9AB1-4FC9-A6F1-D825D7B0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136412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5F11E89-E53A-4F4A-92F1-1E872FC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8CA1E4F8-8F6E-4FB7-B29C-BE346595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D04E79-4BAB-4337-ACAE-E30DEC8E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TMLE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17511ED1-9750-4FD2-9440-02E0AF92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G · 4:20–4:55 ET</a:t>
            </a:r>
          </a:p>
        </p:txBody>
      </p:sp>
      <p:sp>
        <p:nvSpPr>
          <p:cNvPr id="5" name="module-letter">
            <a:extLst xmlns:a="http://schemas.openxmlformats.org/drawingml/2006/main">
              <a:ext uri="{FF2B5EF4-FFF2-40B4-BE49-F238E27FC236}">
                <a16:creationId xmlns:a16="http://schemas.microsoft.com/office/drawing/2014/main" id="{BAAB569B-5C64-43E3-B9EC-8AFA71E6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EAF4FF"/>
                </a:solidFill>
              </a:defRPr>
            </a:pPr>
            <a:r>
              <a:rPr sz="8400" b="1" i="0">
                <a:solidFill>
                  <a:srgbClr val="EAF4FF"/>
                </a:solidFill>
              </a:rPr>
              <a:t>G</a:t>
            </a:r>
          </a:p>
        </p:txBody>
      </p:sp>
      <p:sp>
        <p:nvSpPr>
          <p:cNvPr id="6" name="module-rule">
            <a:extLst xmlns:a="http://schemas.openxmlformats.org/drawingml/2006/main">
              <a:ext uri="{FF2B5EF4-FFF2-40B4-BE49-F238E27FC236}">
                <a16:creationId xmlns:a16="http://schemas.microsoft.com/office/drawing/2014/main" id="{E21B7A54-494D-4B00-A1E0-F8DB05B4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00150"/>
            <a:ext cx="381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1C7C2316-E04E-426C-B82C-F948F531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0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A98E07F-33B7-4FA7-B4D1-102A010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381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Start from the estimand already defined in Navigator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334C9213-CC2E-410F-B1B7-005F8FCF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328BCC8-9756-4187-9591-42A50094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33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Compare crude, g-computation, IPW, and TMLE estimates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AD91CCC9-8F37-45D2-8651-E473EAF4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AB32547-9EFF-4D1B-B95D-A03092DD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86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Review the outcome model, treatment model, and targeting update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D367110E-DD45-4CDF-910C-82BC0712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5EB8ACBE-F9E7-4E57-A7A2-A54DEF3B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C42"/>
                </a:solidFill>
              </a:defRPr>
            </a:pPr>
            <a:r>
              <a:rPr sz="1725" b="0" i="0">
                <a:solidFill>
                  <a:srgbClr val="263C42"/>
                </a:solidFill>
              </a:rPr>
              <a:t>Inspect overlap and state what TMLE cannot repair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C5609D-E7E9-4497-88D7-4A4A61F8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8A1472D8-F2C0-43E4-B1B1-AA3E84C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G · TMLE</a:t>
            </a:r>
          </a:p>
        </p:txBody>
      </p:sp>
      <p:sp>
        <p:nvSpPr>
          <p:cNvPr id="17" name="footer-date">
            <a:extLst xmlns:a="http://schemas.openxmlformats.org/drawingml/2006/main">
              <a:ext uri="{FF2B5EF4-FFF2-40B4-BE49-F238E27FC236}">
                <a16:creationId xmlns:a16="http://schemas.microsoft.com/office/drawing/2014/main" id="{3008B08A-3D9F-48CF-B709-8C34DD36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1215631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F3AC740-89BB-4A7E-99E6-042CAFAF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94928049-1365-453E-8CED-C3F81308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247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D24E3A-48D5-4670-B653-355A145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Close + Kit</a:t>
            </a:r>
          </a:p>
        </p:txBody>
      </p:sp>
      <p:sp>
        <p:nvSpPr>
          <p:cNvPr id="4" name="module-time">
            <a:extLst xmlns:a="http://schemas.openxmlformats.org/drawingml/2006/main">
              <a:ext uri="{FF2B5EF4-FFF2-40B4-BE49-F238E27FC236}">
                <a16:creationId xmlns:a16="http://schemas.microsoft.com/office/drawing/2014/main" id="{252BC8F0-E3C3-47D3-BA6A-232F3C5B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CEEFF"/>
                </a:solidFill>
              </a:defRPr>
            </a:pPr>
            <a:r>
              <a:rPr sz="1350" b="0" i="0">
                <a:solidFill>
                  <a:srgbClr val="DCEEFF"/>
                </a:solidFill>
              </a:rPr>
              <a:t>Module H · 4:55–5:00 ET</a:t>
            </a:r>
          </a:p>
        </p:txBody>
      </p:sp>
      <p:sp>
        <p:nvSpPr>
          <p:cNvPr id="5" name="module-letter">
            <a:extLst xmlns:a="http://schemas.openxmlformats.org/drawingml/2006/main">
              <a:ext uri="{FF2B5EF4-FFF2-40B4-BE49-F238E27FC236}">
                <a16:creationId xmlns:a16="http://schemas.microsoft.com/office/drawing/2014/main" id="{C1A28FD5-6EF5-4441-A1E1-367C2DEE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EAF4FF"/>
                </a:solidFill>
              </a:defRPr>
            </a:pPr>
            <a:r>
              <a:rPr sz="8400" b="1" i="0">
                <a:solidFill>
                  <a:srgbClr val="EAF4FF"/>
                </a:solidFill>
              </a:rPr>
              <a:t>H</a:t>
            </a:r>
          </a:p>
        </p:txBody>
      </p:sp>
      <p:sp>
        <p:nvSpPr>
          <p:cNvPr id="6" name="module-rule">
            <a:extLst xmlns:a="http://schemas.openxmlformats.org/drawingml/2006/main">
              <a:ext uri="{FF2B5EF4-FFF2-40B4-BE49-F238E27FC236}">
                <a16:creationId xmlns:a16="http://schemas.microsoft.com/office/drawing/2014/main" id="{81913BEA-D115-46CC-8F4B-0B873EB0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00150"/>
            <a:ext cx="381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DC739B18-DE8F-46D4-AE59-D9B84EFB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0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264F7DC4-963D-48B9-822B-B61AF2E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381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Protocol · roadmap · audit · estimation · interpretation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FC169286-6BFA-43D5-AFDD-BDDC57E3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EAEEEBD-8D62-423E-845D-E1D5D89D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33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Participant workshop kit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66E60C33-6968-4E24-8689-FDA005D0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37D7D24E-861C-44B1-8B44-1755C4D6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861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Right-heart-catheterization worked example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9E44A7D6-B193-480F-945C-8C1A44AC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B82D53B1-C7D7-4ED2-B703-54D34E29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8543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3C42"/>
                </a:solidFill>
              </a:defRPr>
            </a:pPr>
            <a:r>
              <a:rPr sz="1875" b="0" i="0">
                <a:solidFill>
                  <a:srgbClr val="263C42"/>
                </a:solidFill>
              </a:rPr>
              <a:t>Exit question: What will you change before your next model is fit?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E90D4E3-CD08-4173-9DBA-69D858DE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AB8314F4-0679-4AA6-A8FF-88C999F2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Module H · Close + Kit</a:t>
            </a:r>
          </a:p>
        </p:txBody>
      </p:sp>
      <p:sp>
        <p:nvSpPr>
          <p:cNvPr id="17" name="footer-date">
            <a:extLst xmlns:a="http://schemas.openxmlformats.org/drawingml/2006/main">
              <a:ext uri="{FF2B5EF4-FFF2-40B4-BE49-F238E27FC236}">
                <a16:creationId xmlns:a16="http://schemas.microsoft.com/office/drawing/2014/main" id="{68AFCEEF-C9DB-414A-81BD-18C291BF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B73"/>
                </a:solidFill>
              </a:defRPr>
            </a:pPr>
            <a:r>
              <a:rPr sz="975" b="0" i="0">
                <a:solidFill>
                  <a:srgbClr val="596B73"/>
                </a:solidFill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1494606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2026-07-25T21:22:36.3240000Z</dcterms:created>
  <dcterms:modified xsi:type="dcterms:W3CDTF">2026-07-25T21:22:36.3240000Z</dcterms:modified>
</coreProperties>
</file>